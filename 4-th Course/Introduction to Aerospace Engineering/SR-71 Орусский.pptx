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60" r:id="rId3"/>
    <p:sldId id="257" r:id="rId4"/>
    <p:sldId id="258" r:id="rId5"/>
    <p:sldId id="259" r:id="rId6"/>
    <p:sldId id="261" r:id="rId7"/>
    <p:sldId id="262" r:id="rId8"/>
    <p:sldId id="263" r:id="rId9"/>
    <p:sldId id="265" r:id="rId10"/>
    <p:sldId id="266" r:id="rId11"/>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44" y="10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7A5DB12-30ED-4175-87CB-761A66FC9534}" type="datetimeFigureOut">
              <a:rPr lang="ru-RU" smtClean="0"/>
              <a:t>22.12.2024</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FF457B-E49B-489D-B6F2-0A0F15B2325B}" type="slidenum">
              <a:rPr lang="ru-RU" smtClean="0"/>
              <a:t>‹#›</a:t>
            </a:fld>
            <a:endParaRPr lang="ru-RU"/>
          </a:p>
        </p:txBody>
      </p:sp>
    </p:spTree>
    <p:extLst>
      <p:ext uri="{BB962C8B-B14F-4D97-AF65-F5344CB8AC3E}">
        <p14:creationId xmlns:p14="http://schemas.microsoft.com/office/powerpoint/2010/main" val="1567839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Сегодня я расскажу про SR-71 «</a:t>
            </a:r>
            <a:r>
              <a:rPr lang="ru-RU" dirty="0" err="1" smtClean="0"/>
              <a:t>Blackbird</a:t>
            </a:r>
            <a:r>
              <a:rPr lang="ru-RU" dirty="0" smtClean="0"/>
              <a:t>», известный как один из самых быстрых самолетов в мире. Этот легендарный разведывательный самолет был разработан для выполнения миссий на больших высотах и высоких скоростях. Его возможности позволяли ему собрать важную информацию, оставаясь практически неуязвимым для сил ПВО. А теперь подробнее</a:t>
            </a:r>
            <a:endParaRPr lang="en-US" dirty="0" smtClean="0"/>
          </a:p>
        </p:txBody>
      </p:sp>
      <p:sp>
        <p:nvSpPr>
          <p:cNvPr id="4" name="Номер слайда 3"/>
          <p:cNvSpPr>
            <a:spLocks noGrp="1"/>
          </p:cNvSpPr>
          <p:nvPr>
            <p:ph type="sldNum" sz="quarter" idx="10"/>
          </p:nvPr>
        </p:nvSpPr>
        <p:spPr/>
        <p:txBody>
          <a:bodyPr/>
          <a:lstStyle/>
          <a:p>
            <a:fld id="{3FFF457B-E49B-489D-B6F2-0A0F15B2325B}" type="slidenum">
              <a:rPr lang="ru-RU" smtClean="0"/>
              <a:t>1</a:t>
            </a:fld>
            <a:endParaRPr lang="ru-RU"/>
          </a:p>
        </p:txBody>
      </p:sp>
    </p:spTree>
    <p:extLst>
      <p:ext uri="{BB962C8B-B14F-4D97-AF65-F5344CB8AC3E}">
        <p14:creationId xmlns:p14="http://schemas.microsoft.com/office/powerpoint/2010/main" val="40142544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SR-71 «</a:t>
            </a:r>
            <a:r>
              <a:rPr lang="ru-RU" dirty="0" err="1" smtClean="0"/>
              <a:t>Blackbird</a:t>
            </a:r>
            <a:r>
              <a:rPr lang="ru-RU" dirty="0" smtClean="0"/>
              <a:t>» начал свою историю как преемник модели </a:t>
            </a:r>
            <a:r>
              <a:rPr lang="ru-RU" dirty="0" err="1" smtClean="0"/>
              <a:t>Lockheed</a:t>
            </a:r>
            <a:r>
              <a:rPr lang="ru-RU" dirty="0" smtClean="0"/>
              <a:t> A-12. Разработанный в 1960-х годах, он использовался для стратегической разведки во время Холодной войны. Благодаря своей невероятной скорости и высоте полета, SR-71 мог избегать вражеских средств ПВО, что делало его незаменимым для сбора разведывательных данных. Несмотря на своё военное назначение, он также применялся NASA для научных исследований, что подчеркивало его уникальные технические возможности и вклад в аэрокосмическую индустрию.</a:t>
            </a:r>
            <a:endParaRPr lang="ru-RU" dirty="0"/>
          </a:p>
        </p:txBody>
      </p:sp>
      <p:sp>
        <p:nvSpPr>
          <p:cNvPr id="4" name="Номер слайда 3"/>
          <p:cNvSpPr>
            <a:spLocks noGrp="1"/>
          </p:cNvSpPr>
          <p:nvPr>
            <p:ph type="sldNum" sz="quarter" idx="10"/>
          </p:nvPr>
        </p:nvSpPr>
        <p:spPr/>
        <p:txBody>
          <a:bodyPr/>
          <a:lstStyle/>
          <a:p>
            <a:fld id="{3FFF457B-E49B-489D-B6F2-0A0F15B2325B}" type="slidenum">
              <a:rPr lang="ru-RU" smtClean="0"/>
              <a:t>2</a:t>
            </a:fld>
            <a:endParaRPr lang="ru-RU"/>
          </a:p>
        </p:txBody>
      </p:sp>
    </p:spTree>
    <p:extLst>
      <p:ext uri="{BB962C8B-B14F-4D97-AF65-F5344CB8AC3E}">
        <p14:creationId xmlns:p14="http://schemas.microsoft.com/office/powerpoint/2010/main" val="3377157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Данный слайд представляет принципы полета и конструкцию SR-71 «</a:t>
            </a:r>
            <a:r>
              <a:rPr lang="ru-RU" dirty="0" err="1" smtClean="0"/>
              <a:t>Blackbird</a:t>
            </a:r>
            <a:r>
              <a:rPr lang="ru-RU" dirty="0" smtClean="0"/>
              <a:t>». Его полет основан на аэродинамическом, двигателе и термодинамическом принципе. При скорости свыше 2 Махов двигатели работают по прямоточному принципу.</a:t>
            </a:r>
          </a:p>
          <a:p>
            <a:endParaRPr lang="ru-RU" dirty="0" smtClean="0"/>
          </a:p>
          <a:p>
            <a:r>
              <a:rPr lang="ru-RU" dirty="0" smtClean="0"/>
              <a:t>Конструкция SR-71:</a:t>
            </a:r>
          </a:p>
          <a:p>
            <a:endParaRPr lang="ru-RU" dirty="0" smtClean="0"/>
          </a:p>
          <a:p>
            <a:r>
              <a:rPr lang="ru-RU" dirty="0" smtClean="0"/>
              <a:t>- Уникальный и футуристический дизайн.</a:t>
            </a:r>
          </a:p>
          <a:p>
            <a:r>
              <a:rPr lang="ru-RU" dirty="0" smtClean="0"/>
              <a:t>- Сложная форма для достижения высоких аэродинамических характеристик.</a:t>
            </a:r>
          </a:p>
          <a:p>
            <a:r>
              <a:rPr lang="ru-RU" dirty="0" smtClean="0"/>
              <a:t>- Построен по схеме «</a:t>
            </a:r>
            <a:r>
              <a:rPr lang="ru-RU" dirty="0" err="1" smtClean="0"/>
              <a:t>бесхвостка</a:t>
            </a:r>
            <a:r>
              <a:rPr lang="ru-RU" dirty="0" smtClean="0"/>
              <a:t>» с треугольным крылом и углом стреловидности 60 градусов.</a:t>
            </a:r>
          </a:p>
          <a:p>
            <a:r>
              <a:rPr lang="ru-RU" dirty="0" smtClean="0"/>
              <a:t>- Основной материал — титановый сплав, решающий проблему нагрева на высоких скоростях (более 3 Махов).</a:t>
            </a:r>
          </a:p>
          <a:p>
            <a:endParaRPr lang="ru-RU" dirty="0" smtClean="0"/>
          </a:p>
          <a:p>
            <a:r>
              <a:rPr lang="ru-RU" dirty="0" smtClean="0"/>
              <a:t>Большая часть деталей изготовлена из полимерно-композитных материалов, что обеспечивает термостойкость и прочность конструкции.</a:t>
            </a:r>
            <a:endParaRPr lang="ru-RU" dirty="0"/>
          </a:p>
        </p:txBody>
      </p:sp>
      <p:sp>
        <p:nvSpPr>
          <p:cNvPr id="4" name="Номер слайда 3"/>
          <p:cNvSpPr>
            <a:spLocks noGrp="1"/>
          </p:cNvSpPr>
          <p:nvPr>
            <p:ph type="sldNum" sz="quarter" idx="10"/>
          </p:nvPr>
        </p:nvSpPr>
        <p:spPr/>
        <p:txBody>
          <a:bodyPr/>
          <a:lstStyle/>
          <a:p>
            <a:fld id="{3FFF457B-E49B-489D-B6F2-0A0F15B2325B}" type="slidenum">
              <a:rPr lang="ru-RU" smtClean="0"/>
              <a:t>3</a:t>
            </a:fld>
            <a:endParaRPr lang="ru-RU"/>
          </a:p>
        </p:txBody>
      </p:sp>
    </p:spTree>
    <p:extLst>
      <p:ext uri="{BB962C8B-B14F-4D97-AF65-F5344CB8AC3E}">
        <p14:creationId xmlns:p14="http://schemas.microsoft.com/office/powerpoint/2010/main" val="23360381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SR-71 «</a:t>
            </a:r>
            <a:r>
              <a:rPr lang="ru-RU" dirty="0" err="1" smtClean="0"/>
              <a:t>Blackbird</a:t>
            </a:r>
            <a:r>
              <a:rPr lang="ru-RU" dirty="0" smtClean="0"/>
              <a:t>» по-прежнему считается самым быстрым самолетом в мире, развивая скорость до 3529 км/ч. Из-за высоких скоростей корпус нагревался, что влияло на его герметичность. Полная заправка производилась только в воздухе после взлета, поскольку на земле топливные баки могли протекать.</a:t>
            </a:r>
          </a:p>
          <a:p>
            <a:endParaRPr lang="ru-RU" dirty="0" smtClean="0"/>
          </a:p>
          <a:p>
            <a:r>
              <a:rPr lang="ru-RU" dirty="0" smtClean="0"/>
              <a:t>Самолет оснащен </a:t>
            </a:r>
            <a:r>
              <a:rPr lang="ru-RU" dirty="0" err="1" smtClean="0"/>
              <a:t>трехстоечным</a:t>
            </a:r>
            <a:r>
              <a:rPr lang="ru-RU" dirty="0" smtClean="0"/>
              <a:t> шасси: передняя опора убирается против потока, а основные стойки — по продольной оси в крыло и фюзеляж.</a:t>
            </a:r>
          </a:p>
          <a:p>
            <a:endParaRPr lang="ru-RU" dirty="0" smtClean="0"/>
          </a:p>
          <a:p>
            <a:r>
              <a:rPr lang="ru-RU" dirty="0" smtClean="0"/>
              <a:t>Основным конкурентом SR-71 был советский перехватчик МиГ-25, однако прямых аналогов у «</a:t>
            </a:r>
            <a:r>
              <a:rPr lang="ru-RU" dirty="0" err="1" smtClean="0"/>
              <a:t>Blackbird</a:t>
            </a:r>
            <a:r>
              <a:rPr lang="ru-RU" dirty="0" smtClean="0"/>
              <a:t>» не существовало.</a:t>
            </a:r>
            <a:endParaRPr lang="ru-RU" dirty="0"/>
          </a:p>
        </p:txBody>
      </p:sp>
      <p:sp>
        <p:nvSpPr>
          <p:cNvPr id="4" name="Номер слайда 3"/>
          <p:cNvSpPr>
            <a:spLocks noGrp="1"/>
          </p:cNvSpPr>
          <p:nvPr>
            <p:ph type="sldNum" sz="quarter" idx="10"/>
          </p:nvPr>
        </p:nvSpPr>
        <p:spPr/>
        <p:txBody>
          <a:bodyPr/>
          <a:lstStyle/>
          <a:p>
            <a:fld id="{3FFF457B-E49B-489D-B6F2-0A0F15B2325B}" type="slidenum">
              <a:rPr lang="ru-RU" smtClean="0"/>
              <a:t>4</a:t>
            </a:fld>
            <a:endParaRPr lang="ru-RU"/>
          </a:p>
        </p:txBody>
      </p:sp>
    </p:spTree>
    <p:extLst>
      <p:ext uri="{BB962C8B-B14F-4D97-AF65-F5344CB8AC3E}">
        <p14:creationId xmlns:p14="http://schemas.microsoft.com/office/powerpoint/2010/main" val="3667042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Разработкой SR-71 «</a:t>
            </a:r>
            <a:r>
              <a:rPr lang="ru-RU" dirty="0" err="1" smtClean="0"/>
              <a:t>Blackbird</a:t>
            </a:r>
            <a:r>
              <a:rPr lang="ru-RU" dirty="0" smtClean="0"/>
              <a:t>» занималось подразделение </a:t>
            </a:r>
            <a:r>
              <a:rPr lang="ru-RU" dirty="0" err="1" smtClean="0"/>
              <a:t>Skunk</a:t>
            </a:r>
            <a:r>
              <a:rPr lang="ru-RU" dirty="0" smtClean="0"/>
              <a:t> </a:t>
            </a:r>
            <a:r>
              <a:rPr lang="ru-RU" dirty="0" err="1" smtClean="0"/>
              <a:t>Works</a:t>
            </a:r>
            <a:r>
              <a:rPr lang="ru-RU" dirty="0" smtClean="0"/>
              <a:t> компании </a:t>
            </a:r>
            <a:r>
              <a:rPr lang="ru-RU" dirty="0" err="1" smtClean="0"/>
              <a:t>Lockheed</a:t>
            </a:r>
            <a:r>
              <a:rPr lang="ru-RU" dirty="0" smtClean="0"/>
              <a:t> </a:t>
            </a:r>
            <a:r>
              <a:rPr lang="ru-RU" dirty="0" err="1" smtClean="0"/>
              <a:t>Corporation</a:t>
            </a:r>
            <a:r>
              <a:rPr lang="ru-RU" dirty="0" smtClean="0"/>
              <a:t>. Главным конструктором был </a:t>
            </a:r>
            <a:r>
              <a:rPr lang="ru-RU" dirty="0" err="1" smtClean="0"/>
              <a:t>Кларенс</a:t>
            </a:r>
            <a:r>
              <a:rPr lang="ru-RU" dirty="0" smtClean="0"/>
              <a:t> «Келли» Джонсон. Этот проект стал одним из самых известных и технологически передовых в истории авиастроения</a:t>
            </a:r>
            <a:endParaRPr lang="ru-RU" dirty="0"/>
          </a:p>
        </p:txBody>
      </p:sp>
      <p:sp>
        <p:nvSpPr>
          <p:cNvPr id="4" name="Номер слайда 3"/>
          <p:cNvSpPr>
            <a:spLocks noGrp="1"/>
          </p:cNvSpPr>
          <p:nvPr>
            <p:ph type="sldNum" sz="quarter" idx="10"/>
          </p:nvPr>
        </p:nvSpPr>
        <p:spPr/>
        <p:txBody>
          <a:bodyPr/>
          <a:lstStyle/>
          <a:p>
            <a:fld id="{3FFF457B-E49B-489D-B6F2-0A0F15B2325B}" type="slidenum">
              <a:rPr lang="ru-RU" smtClean="0"/>
              <a:t>6</a:t>
            </a:fld>
            <a:endParaRPr lang="ru-RU"/>
          </a:p>
        </p:txBody>
      </p:sp>
    </p:spTree>
    <p:extLst>
      <p:ext uri="{BB962C8B-B14F-4D97-AF65-F5344CB8AC3E}">
        <p14:creationId xmlns:p14="http://schemas.microsoft.com/office/powerpoint/2010/main" val="15966909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3FFF457B-E49B-489D-B6F2-0A0F15B2325B}" type="slidenum">
              <a:rPr lang="ru-RU" smtClean="0"/>
              <a:t>9</a:t>
            </a:fld>
            <a:endParaRPr lang="ru-RU"/>
          </a:p>
        </p:txBody>
      </p:sp>
    </p:spTree>
    <p:extLst>
      <p:ext uri="{BB962C8B-B14F-4D97-AF65-F5344CB8AC3E}">
        <p14:creationId xmlns:p14="http://schemas.microsoft.com/office/powerpoint/2010/main" val="10566839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a:t>Образец заголовка</a:t>
            </a:r>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p>
        </p:txBody>
      </p:sp>
      <p:sp>
        <p:nvSpPr>
          <p:cNvPr id="4" name="Дата 3"/>
          <p:cNvSpPr>
            <a:spLocks noGrp="1"/>
          </p:cNvSpPr>
          <p:nvPr>
            <p:ph type="dt" sz="half" idx="10"/>
          </p:nvPr>
        </p:nvSpPr>
        <p:spPr/>
        <p:txBody>
          <a:bodyPr/>
          <a:lstStyle/>
          <a:p>
            <a:fld id="{B4C71EC6-210F-42DE-9C53-41977AD35B3D}" type="datetimeFigureOut">
              <a:rPr lang="ru-RU" smtClean="0"/>
              <a:t>22.12.2024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B4C71EC6-210F-42DE-9C53-41977AD35B3D}" type="datetimeFigureOut">
              <a:rPr lang="ru-RU" smtClean="0"/>
              <a:t>22.12.2024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B4C71EC6-210F-42DE-9C53-41977AD35B3D}" type="datetimeFigureOut">
              <a:rPr lang="ru-RU" smtClean="0"/>
              <a:t>22.12.2024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B4C71EC6-210F-42DE-9C53-41977AD35B3D}" type="datetimeFigureOut">
              <a:rPr lang="ru-RU" smtClean="0"/>
              <a:t>22.12.2024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B4C71EC6-210F-42DE-9C53-41977AD35B3D}" type="datetimeFigureOut">
              <a:rPr lang="ru-RU" smtClean="0"/>
              <a:t>22.12.2024</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B4C71EC6-210F-42DE-9C53-41977AD35B3D}" type="datetimeFigureOut">
              <a:rPr lang="ru-RU" smtClean="0"/>
              <a:t>22.12.2024</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B4C71EC6-210F-42DE-9C53-41977AD35B3D}" type="datetimeFigureOut">
              <a:rPr lang="ru-RU" smtClean="0"/>
              <a:t>22.12.2024</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B4C71EC6-210F-42DE-9C53-41977AD35B3D}" type="datetimeFigureOut">
              <a:rPr lang="ru-RU" smtClean="0"/>
              <a:t>22.12.2024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B4C71EC6-210F-42DE-9C53-41977AD35B3D}" type="datetimeFigureOut">
              <a:rPr lang="ru-RU" smtClean="0"/>
              <a:t>22.12.2024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B4C71EC6-210F-42DE-9C53-41977AD35B3D}" type="datetimeFigureOut">
              <a:rPr lang="ru-RU" smtClean="0"/>
              <a:t>22.12.2024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B4C71EC6-210F-42DE-9C53-41977AD35B3D}" type="datetimeFigureOut">
              <a:rPr lang="ru-RU" smtClean="0"/>
              <a:t>22.12.2024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C71EC6-210F-42DE-9C53-41977AD35B3D}" type="datetimeFigureOut">
              <a:rPr lang="ru-RU" smtClean="0"/>
              <a:t>22.12.2024</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9B0651-EE4F-4900-A07F-96A6BFA9D0F0}" type="slidenum">
              <a:rPr lang="ru-RU" smtClean="0"/>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2865" y="4869507"/>
            <a:ext cx="7772400" cy="568649"/>
          </a:xfrm>
        </p:spPr>
        <p:txBody>
          <a:bodyPr>
            <a:noAutofit/>
          </a:bodyPr>
          <a:lstStyle/>
          <a:p>
            <a:r>
              <a:rPr lang="en-US" sz="4000" b="1" dirty="0" smtClean="0"/>
              <a:t>SR-71 </a:t>
            </a:r>
            <a:r>
              <a:rPr lang="ru-RU" sz="4000" b="1" dirty="0" smtClean="0"/>
              <a:t>«</a:t>
            </a:r>
            <a:r>
              <a:rPr lang="en-US" sz="4000" b="1" dirty="0" smtClean="0"/>
              <a:t>Blackbird</a:t>
            </a:r>
            <a:r>
              <a:rPr lang="ru-RU" sz="4000" b="1" dirty="0" smtClean="0"/>
              <a:t>»</a:t>
            </a:r>
            <a:endParaRPr lang="ru-RU" sz="2200" b="1" dirty="0"/>
          </a:p>
        </p:txBody>
      </p:sp>
      <p:sp>
        <p:nvSpPr>
          <p:cNvPr id="3" name="Подзаголовок 2"/>
          <p:cNvSpPr>
            <a:spLocks noGrp="1"/>
          </p:cNvSpPr>
          <p:nvPr>
            <p:ph type="subTitle" idx="1"/>
          </p:nvPr>
        </p:nvSpPr>
        <p:spPr>
          <a:xfrm>
            <a:off x="1168665" y="5614822"/>
            <a:ext cx="6571687" cy="792088"/>
          </a:xfrm>
        </p:spPr>
        <p:txBody>
          <a:bodyPr>
            <a:normAutofit fontScale="70000" lnSpcReduction="20000"/>
          </a:bodyPr>
          <a:lstStyle/>
          <a:p>
            <a:pPr algn="l"/>
            <a:r>
              <a:rPr lang="ru-RU" dirty="0" smtClean="0">
                <a:solidFill>
                  <a:schemeClr val="tx1"/>
                </a:solidFill>
                <a:effectLst>
                  <a:outerShdw blurRad="38100" dist="38100" dir="2700000" algn="tl">
                    <a:srgbClr val="000000">
                      <a:alpha val="43137"/>
                    </a:srgbClr>
                  </a:outerShdw>
                </a:effectLst>
              </a:rPr>
              <a:t>Выполнил студент: </a:t>
            </a:r>
            <a:r>
              <a:rPr lang="ru-RU" dirty="0" err="1" smtClean="0">
                <a:solidFill>
                  <a:schemeClr val="tx1"/>
                </a:solidFill>
                <a:effectLst>
                  <a:outerShdw blurRad="38100" dist="38100" dir="2700000" algn="tl">
                    <a:srgbClr val="000000">
                      <a:alpha val="43137"/>
                    </a:srgbClr>
                  </a:outerShdw>
                </a:effectLst>
              </a:rPr>
              <a:t>Орусский</a:t>
            </a:r>
            <a:r>
              <a:rPr lang="ru-RU" dirty="0" smtClean="0">
                <a:solidFill>
                  <a:schemeClr val="tx1"/>
                </a:solidFill>
                <a:effectLst>
                  <a:outerShdw blurRad="38100" dist="38100" dir="2700000" algn="tl">
                    <a:srgbClr val="000000">
                      <a:alpha val="43137"/>
                    </a:srgbClr>
                  </a:outerShdw>
                </a:effectLst>
              </a:rPr>
              <a:t> Вячеслав, М8О-406Б-21</a:t>
            </a:r>
            <a:endParaRPr lang="ru-RU" dirty="0">
              <a:solidFill>
                <a:schemeClr val="tx1"/>
              </a:solidFill>
              <a:effectLst>
                <a:outerShdw blurRad="38100" dist="38100" dir="2700000" algn="tl">
                  <a:srgbClr val="000000">
                    <a:alpha val="43137"/>
                  </a:srgbClr>
                </a:outerShdw>
              </a:effectLst>
            </a:endParaRPr>
          </a:p>
          <a:p>
            <a:pPr algn="l"/>
            <a:r>
              <a:rPr lang="ru-RU" dirty="0">
                <a:solidFill>
                  <a:schemeClr val="tx1"/>
                </a:solidFill>
                <a:effectLst>
                  <a:outerShdw blurRad="38100" dist="38100" dir="2700000" algn="tl">
                    <a:srgbClr val="000000">
                      <a:alpha val="43137"/>
                    </a:srgbClr>
                  </a:outerShdw>
                </a:effectLst>
              </a:rPr>
              <a:t>Проверил: д.т.н. Егоров А.В.</a:t>
            </a:r>
          </a:p>
        </p:txBody>
      </p:sp>
      <p:sp>
        <p:nvSpPr>
          <p:cNvPr id="6" name="TextBox 5">
            <a:extLst>
              <a:ext uri="{FF2B5EF4-FFF2-40B4-BE49-F238E27FC236}">
                <a16:creationId xmlns="" xmlns:a16="http://schemas.microsoft.com/office/drawing/2014/main" id="{A1014FC1-50E8-4C14-9B21-9DA251F42822}"/>
              </a:ext>
            </a:extLst>
          </p:cNvPr>
          <p:cNvSpPr txBox="1"/>
          <p:nvPr/>
        </p:nvSpPr>
        <p:spPr>
          <a:xfrm>
            <a:off x="20499" y="6450601"/>
            <a:ext cx="9103002" cy="369332"/>
          </a:xfrm>
          <a:prstGeom prst="rect">
            <a:avLst/>
          </a:prstGeom>
          <a:noFill/>
        </p:spPr>
        <p:txBody>
          <a:bodyPr wrap="square">
            <a:spAutoFit/>
          </a:bodyPr>
          <a:lstStyle/>
          <a:p>
            <a:pPr algn="ctr"/>
            <a:r>
              <a:rPr lang="ru-RU" dirty="0">
                <a:solidFill>
                  <a:schemeClr val="tx1"/>
                </a:solidFill>
                <a:effectLst>
                  <a:outerShdw blurRad="38100" dist="38100" dir="2700000" algn="tl">
                    <a:srgbClr val="000000">
                      <a:alpha val="43137"/>
                    </a:srgbClr>
                  </a:outerShdw>
                </a:effectLst>
              </a:rPr>
              <a:t>Москва, 2024</a:t>
            </a:r>
            <a:endParaRPr lang="ru-RU" dirty="0"/>
          </a:p>
        </p:txBody>
      </p:sp>
      <p:pic>
        <p:nvPicPr>
          <p:cNvPr id="7" name="Рисунок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2865" y="131402"/>
            <a:ext cx="8109223" cy="4561439"/>
          </a:xfrm>
          <a:prstGeom prst="rect">
            <a:avLst/>
          </a:prstGeom>
        </p:spPr>
      </p:pic>
    </p:spTree>
    <p:extLst>
      <p:ext uri="{BB962C8B-B14F-4D97-AF65-F5344CB8AC3E}">
        <p14:creationId xmlns:p14="http://schemas.microsoft.com/office/powerpoint/2010/main" val="29535368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260648"/>
            <a:ext cx="8229600" cy="648072"/>
          </a:xfrm>
        </p:spPr>
        <p:txBody>
          <a:bodyPr>
            <a:normAutofit/>
          </a:bodyPr>
          <a:lstStyle/>
          <a:p>
            <a:r>
              <a:rPr lang="ru-RU" sz="2800" b="1" dirty="0">
                <a:effectLst>
                  <a:outerShdw blurRad="38100" dist="38100" dir="2700000" algn="tl">
                    <a:srgbClr val="000000">
                      <a:alpha val="43137"/>
                    </a:srgbClr>
                  </a:outerShdw>
                </a:effectLst>
              </a:rPr>
              <a:t>Назначение</a:t>
            </a:r>
          </a:p>
        </p:txBody>
      </p:sp>
      <p:sp>
        <p:nvSpPr>
          <p:cNvPr id="3" name="Объект 2"/>
          <p:cNvSpPr>
            <a:spLocks noGrp="1"/>
          </p:cNvSpPr>
          <p:nvPr>
            <p:ph idx="1"/>
          </p:nvPr>
        </p:nvSpPr>
        <p:spPr>
          <a:xfrm>
            <a:off x="395536" y="908721"/>
            <a:ext cx="8136904" cy="2088231"/>
          </a:xfrm>
        </p:spPr>
        <p:txBody>
          <a:bodyPr>
            <a:normAutofit lnSpcReduction="10000"/>
          </a:bodyPr>
          <a:lstStyle/>
          <a:p>
            <a:pPr marL="0" indent="0" algn="just">
              <a:buNone/>
            </a:pPr>
            <a:r>
              <a:rPr lang="ru-RU" b="1" dirty="0"/>
              <a:t>  </a:t>
            </a:r>
            <a:r>
              <a:rPr lang="ru-RU" sz="1600" b="1" dirty="0"/>
              <a:t> </a:t>
            </a:r>
            <a:r>
              <a:rPr lang="ru-RU" sz="1600" dirty="0"/>
              <a:t>  </a:t>
            </a:r>
            <a:r>
              <a:rPr lang="en-US" sz="1600" dirty="0" smtClean="0"/>
              <a:t>SR-71 - </a:t>
            </a:r>
            <a:r>
              <a:rPr lang="ru-RU" sz="1600" dirty="0" smtClean="0"/>
              <a:t>стратегический </a:t>
            </a:r>
            <a:r>
              <a:rPr lang="ru-RU" sz="1600" dirty="0"/>
              <a:t>сверхзвуковой самолёт-разведчик ВВС США. Неофициально был назван «</a:t>
            </a:r>
            <a:r>
              <a:rPr lang="ru-RU" sz="1600" dirty="0" err="1"/>
              <a:t>Blackbird</a:t>
            </a:r>
            <a:r>
              <a:rPr lang="ru-RU" sz="1600" dirty="0"/>
              <a:t>» </a:t>
            </a:r>
            <a:r>
              <a:rPr lang="ru-RU" sz="1600" dirty="0" smtClean="0"/>
              <a:t>(«</a:t>
            </a:r>
            <a:r>
              <a:rPr lang="ru-RU" sz="1600" dirty="0"/>
              <a:t>Чёрный дрозд», «Чёрная птица</a:t>
            </a:r>
            <a:r>
              <a:rPr lang="ru-RU" sz="1600" dirty="0" smtClean="0"/>
              <a:t>»). Создавался, как эволюционная замена модели </a:t>
            </a:r>
            <a:r>
              <a:rPr lang="en-US" sz="1600" dirty="0" smtClean="0"/>
              <a:t>Lockheed A-12</a:t>
            </a:r>
            <a:r>
              <a:rPr lang="ru-RU" sz="1600" dirty="0" smtClean="0"/>
              <a:t>, одним из основных улучшений была -радиолокационную незаметность. Предназначался для разведки на больших высотах (до 26 км), дальность полёта позволяла проникать в воздушные пространства других стран, избегая ПВО. Помимо прямого военного назначения, активно использовался </a:t>
            </a:r>
            <a:r>
              <a:rPr lang="en-US" sz="1600" dirty="0" smtClean="0"/>
              <a:t>NASA </a:t>
            </a:r>
            <a:r>
              <a:rPr lang="ru-RU" sz="1600" dirty="0" smtClean="0"/>
              <a:t>для исследования высокоскоростных полётов. Является </a:t>
            </a:r>
            <a:r>
              <a:rPr lang="ru-RU" sz="1600" dirty="0"/>
              <a:t>самым быстрым пилотируемым, серийным самолетом в </a:t>
            </a:r>
            <a:r>
              <a:rPr lang="ru-RU" sz="1600" dirty="0" smtClean="0"/>
              <a:t>мире.</a:t>
            </a:r>
            <a:endParaRPr lang="ru-RU" sz="1600" dirty="0"/>
          </a:p>
        </p:txBody>
      </p:sp>
      <p:pic>
        <p:nvPicPr>
          <p:cNvPr id="5" name="Рисунок 4"/>
          <p:cNvPicPr>
            <a:picLocks noChangeAspect="1"/>
          </p:cNvPicPr>
          <p:nvPr/>
        </p:nvPicPr>
        <p:blipFill>
          <a:blip r:embed="rId3"/>
          <a:stretch>
            <a:fillRect/>
          </a:stretch>
        </p:blipFill>
        <p:spPr>
          <a:xfrm>
            <a:off x="1666020" y="2996952"/>
            <a:ext cx="5832648" cy="3645405"/>
          </a:xfrm>
          <a:prstGeom prst="rect">
            <a:avLst/>
          </a:prstGeom>
        </p:spPr>
      </p:pic>
    </p:spTree>
    <p:extLst>
      <p:ext uri="{BB962C8B-B14F-4D97-AF65-F5344CB8AC3E}">
        <p14:creationId xmlns:p14="http://schemas.microsoft.com/office/powerpoint/2010/main" val="2766017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251520" y="260648"/>
            <a:ext cx="8712968" cy="2304256"/>
          </a:xfrm>
        </p:spPr>
        <p:txBody>
          <a:bodyPr>
            <a:normAutofit fontScale="32500" lnSpcReduction="20000"/>
          </a:bodyPr>
          <a:lstStyle/>
          <a:p>
            <a:pPr marL="0" indent="0" algn="just">
              <a:buNone/>
            </a:pPr>
            <a:r>
              <a:rPr lang="ru-RU" sz="3600" b="1" dirty="0">
                <a:effectLst>
                  <a:outerShdw blurRad="38100" dist="38100" dir="2700000" algn="tl">
                    <a:srgbClr val="000000">
                      <a:alpha val="43137"/>
                    </a:srgbClr>
                  </a:outerShdw>
                </a:effectLst>
              </a:rPr>
              <a:t>    </a:t>
            </a:r>
            <a:r>
              <a:rPr lang="ru-RU" sz="4200" b="1" dirty="0">
                <a:effectLst>
                  <a:outerShdw blurRad="38100" dist="38100" dir="2700000" algn="tl">
                    <a:srgbClr val="000000">
                      <a:alpha val="43137"/>
                    </a:srgbClr>
                  </a:outerShdw>
                </a:effectLst>
              </a:rPr>
              <a:t>Принцип полёта: </a:t>
            </a:r>
            <a:r>
              <a:rPr lang="ru-RU" sz="4200" dirty="0" smtClean="0"/>
              <a:t>аэродинамический + двигательный + термодинамический.</a:t>
            </a:r>
          </a:p>
          <a:p>
            <a:pPr marL="0" indent="0" algn="just">
              <a:buNone/>
            </a:pPr>
            <a:r>
              <a:rPr lang="ru-RU" sz="4200" dirty="0" smtClean="0"/>
              <a:t>При скоростях выше 2 Махов, двигатели работают по прямоточному принципу.</a:t>
            </a:r>
            <a:endParaRPr lang="ru-RU" sz="4200" dirty="0"/>
          </a:p>
          <a:p>
            <a:pPr marL="0" indent="0" algn="just">
              <a:buNone/>
            </a:pPr>
            <a:r>
              <a:rPr lang="ru-RU" sz="4200" b="1" dirty="0">
                <a:effectLst>
                  <a:outerShdw blurRad="38100" dist="38100" dir="2700000" algn="tl">
                    <a:srgbClr val="000000">
                      <a:alpha val="43137"/>
                    </a:srgbClr>
                  </a:outerShdw>
                </a:effectLst>
              </a:rPr>
              <a:t>    </a:t>
            </a:r>
            <a:r>
              <a:rPr lang="ru-RU" sz="4200" b="1" dirty="0" smtClean="0">
                <a:effectLst>
                  <a:outerShdw blurRad="38100" dist="38100" dir="2700000" algn="tl">
                    <a:srgbClr val="000000">
                      <a:alpha val="43137"/>
                    </a:srgbClr>
                  </a:outerShdw>
                </a:effectLst>
              </a:rPr>
              <a:t>Конструкция:</a:t>
            </a:r>
          </a:p>
          <a:p>
            <a:pPr marL="0" indent="0" algn="just">
              <a:buNone/>
            </a:pPr>
            <a:r>
              <a:rPr lang="ru-RU" sz="4300" dirty="0">
                <a:latin typeface="Times New Roman" panose="02020603050405020304" pitchFamily="18" charset="0"/>
                <a:cs typeface="Times New Roman" panose="02020603050405020304" pitchFamily="18" charset="0"/>
              </a:rPr>
              <a:t>Самолёт отличался уникальным и футуристическим дизайном. Для достижения высоких аэродинамических характеристик на различных режимах полёта корпус и несущие поверхности имеют очень сложную в плане и по модульным сечениям форму.</a:t>
            </a:r>
          </a:p>
          <a:p>
            <a:pPr marL="0" indent="0" algn="just">
              <a:buNone/>
            </a:pPr>
            <a:r>
              <a:rPr lang="ru-RU" sz="4300" dirty="0">
                <a:latin typeface="Times New Roman" panose="02020603050405020304" pitchFamily="18" charset="0"/>
                <a:cs typeface="Times New Roman" panose="02020603050405020304" pitchFamily="18" charset="0"/>
              </a:rPr>
              <a:t>    Самолёт построен по схеме «</a:t>
            </a:r>
            <a:r>
              <a:rPr lang="ru-RU" sz="4300" dirty="0" err="1">
                <a:latin typeface="Times New Roman" panose="02020603050405020304" pitchFamily="18" charset="0"/>
                <a:cs typeface="Times New Roman" panose="02020603050405020304" pitchFamily="18" charset="0"/>
              </a:rPr>
              <a:t>бесхвостка</a:t>
            </a:r>
            <a:r>
              <a:rPr lang="ru-RU" sz="4300" dirty="0">
                <a:latin typeface="Times New Roman" panose="02020603050405020304" pitchFamily="18" charset="0"/>
                <a:cs typeface="Times New Roman" panose="02020603050405020304" pitchFamily="18" charset="0"/>
              </a:rPr>
              <a:t>», с тонким треугольным крылом с наплывом, со стреловидностью по передней кромке 60 градусов</a:t>
            </a:r>
            <a:r>
              <a:rPr lang="ru-RU" sz="4300" dirty="0" smtClean="0">
                <a:latin typeface="Times New Roman" panose="02020603050405020304" pitchFamily="18" charset="0"/>
                <a:cs typeface="Times New Roman" panose="02020603050405020304" pitchFamily="18" charset="0"/>
              </a:rPr>
              <a:t>.</a:t>
            </a:r>
          </a:p>
          <a:p>
            <a:pPr marL="0" indent="0" algn="just">
              <a:buNone/>
            </a:pPr>
            <a:r>
              <a:rPr lang="ru-RU" sz="4300" dirty="0">
                <a:latin typeface="Times New Roman" panose="02020603050405020304" pitchFamily="18" charset="0"/>
                <a:cs typeface="Times New Roman" panose="02020603050405020304" pitchFamily="18" charset="0"/>
              </a:rPr>
              <a:t>Особенно сложной проблемой полёта на скоростях, превышающих скорость звука более чем в три раза (М&gt;3), является высокий нагрев корпуса. Для её решения 85 % деталей планера было изготовлено из титанового сплава, а большая часть остальных деталей изготавливалась из полимерно-композитных </a:t>
            </a:r>
            <a:r>
              <a:rPr lang="ru-RU" sz="4300" dirty="0" smtClean="0">
                <a:latin typeface="Times New Roman" panose="02020603050405020304" pitchFamily="18" charset="0"/>
                <a:cs typeface="Times New Roman" panose="02020603050405020304" pitchFamily="18" charset="0"/>
              </a:rPr>
              <a:t>материалов</a:t>
            </a:r>
            <a:endParaRPr lang="ru-RU" dirty="0"/>
          </a:p>
          <a:p>
            <a:pPr marL="0" indent="0">
              <a:buNone/>
            </a:pPr>
            <a:endParaRPr lang="ru-RU" dirty="0"/>
          </a:p>
          <a:p>
            <a:endParaRPr lang="ru-RU" dirty="0"/>
          </a:p>
        </p:txBody>
      </p:sp>
      <p:pic>
        <p:nvPicPr>
          <p:cNvPr id="2" name="Рисунок 1"/>
          <p:cNvPicPr>
            <a:picLocks noChangeAspect="1"/>
          </p:cNvPicPr>
          <p:nvPr/>
        </p:nvPicPr>
        <p:blipFill>
          <a:blip r:embed="rId3"/>
          <a:stretch>
            <a:fillRect/>
          </a:stretch>
        </p:blipFill>
        <p:spPr>
          <a:xfrm>
            <a:off x="1391322" y="2636912"/>
            <a:ext cx="6433364" cy="3950924"/>
          </a:xfrm>
          <a:prstGeom prst="rect">
            <a:avLst/>
          </a:prstGeom>
        </p:spPr>
      </p:pic>
    </p:spTree>
    <p:extLst>
      <p:ext uri="{BB962C8B-B14F-4D97-AF65-F5344CB8AC3E}">
        <p14:creationId xmlns:p14="http://schemas.microsoft.com/office/powerpoint/2010/main" val="1931261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4521" y="404664"/>
            <a:ext cx="8221935" cy="2736304"/>
          </a:xfrm>
        </p:spPr>
        <p:txBody>
          <a:bodyPr>
            <a:noAutofit/>
          </a:bodyPr>
          <a:lstStyle/>
          <a:p>
            <a:pPr marL="0" indent="0">
              <a:buNone/>
            </a:pPr>
            <a:r>
              <a:rPr lang="ru-RU" sz="1800" dirty="0" smtClean="0">
                <a:latin typeface="Times New Roman" panose="02020603050405020304" pitchFamily="18" charset="0"/>
                <a:cs typeface="Times New Roman" panose="02020603050405020304" pitchFamily="18" charset="0"/>
              </a:rPr>
              <a:t>До сих пор является самым быстрым самолётом в мире (3 529 км</a:t>
            </a:r>
            <a:r>
              <a:rPr lang="en-US" sz="1800" dirty="0" smtClean="0">
                <a:latin typeface="Times New Roman" panose="02020603050405020304" pitchFamily="18" charset="0"/>
                <a:cs typeface="Times New Roman" panose="02020603050405020304" pitchFamily="18" charset="0"/>
              </a:rPr>
              <a:t>/</a:t>
            </a:r>
            <a:r>
              <a:rPr lang="ru-RU" sz="1800" dirty="0" smtClean="0">
                <a:latin typeface="Times New Roman" panose="02020603050405020304" pitchFamily="18" charset="0"/>
                <a:cs typeface="Times New Roman" panose="02020603050405020304" pitchFamily="18" charset="0"/>
              </a:rPr>
              <a:t>ч)</a:t>
            </a:r>
            <a:r>
              <a:rPr lang="en-US" sz="1800" dirty="0" smtClean="0">
                <a:latin typeface="Times New Roman" panose="02020603050405020304" pitchFamily="18" charset="0"/>
                <a:cs typeface="Times New Roman" panose="02020603050405020304" pitchFamily="18" charset="0"/>
              </a:rPr>
              <a:t>.</a:t>
            </a:r>
            <a:r>
              <a:rPr lang="ru-RU" sz="1800" dirty="0" smtClean="0">
                <a:latin typeface="Times New Roman" panose="02020603050405020304" pitchFamily="18" charset="0"/>
                <a:cs typeface="Times New Roman" panose="02020603050405020304" pitchFamily="18" charset="0"/>
              </a:rPr>
              <a:t> Из-за приведённых ранее фактов о нагреве корпуса на высоких скоростях, на земле корпус был менее герметичен, в связи с чем, топливные баки протекали, поэтому полностью заправка заканчивалась только в воздухе.</a:t>
            </a:r>
            <a:endParaRPr lang="en-US" sz="1800" dirty="0" smtClean="0">
              <a:latin typeface="Times New Roman" panose="02020603050405020304" pitchFamily="18" charset="0"/>
              <a:cs typeface="Times New Roman" panose="02020603050405020304" pitchFamily="18" charset="0"/>
            </a:endParaRPr>
          </a:p>
          <a:p>
            <a:pPr marL="0" indent="0" algn="just">
              <a:buNone/>
            </a:pPr>
            <a:r>
              <a:rPr lang="ru-RU" sz="1800" dirty="0">
                <a:latin typeface="Times New Roman" panose="02020603050405020304" pitchFamily="18" charset="0"/>
                <a:cs typeface="Times New Roman" panose="02020603050405020304" pitchFamily="18" charset="0"/>
              </a:rPr>
              <a:t> Шасси </a:t>
            </a:r>
            <a:r>
              <a:rPr lang="ru-RU" sz="1800" dirty="0" err="1">
                <a:latin typeface="Times New Roman" panose="02020603050405020304" pitchFamily="18" charset="0"/>
                <a:cs typeface="Times New Roman" panose="02020603050405020304" pitchFamily="18" charset="0"/>
              </a:rPr>
              <a:t>трёхстоечное</a:t>
            </a:r>
            <a:r>
              <a:rPr lang="ru-RU" sz="1800" dirty="0">
                <a:latin typeface="Times New Roman" panose="02020603050405020304" pitchFamily="18" charset="0"/>
                <a:cs typeface="Times New Roman" panose="02020603050405020304" pitchFamily="18" charset="0"/>
              </a:rPr>
              <a:t>, передняя опора убирается против потока, основные стойки — к продольной оси самолёта, в крыло и фюзеляж.</a:t>
            </a:r>
          </a:p>
          <a:p>
            <a:pPr marL="0" indent="0" algn="just">
              <a:buNone/>
            </a:pPr>
            <a:endParaRPr lang="ru-RU" sz="1800" dirty="0">
              <a:latin typeface="Times New Roman" panose="02020603050405020304" pitchFamily="18" charset="0"/>
              <a:cs typeface="Times New Roman" panose="02020603050405020304" pitchFamily="18" charset="0"/>
            </a:endParaRPr>
          </a:p>
          <a:p>
            <a:pPr marL="0" indent="0" algn="just">
              <a:buNone/>
            </a:pPr>
            <a:r>
              <a:rPr lang="ru-RU" sz="1800" dirty="0">
                <a:latin typeface="Times New Roman" panose="02020603050405020304" pitchFamily="18" charset="0"/>
                <a:cs typeface="Times New Roman" panose="02020603050405020304" pitchFamily="18" charset="0"/>
              </a:rPr>
              <a:t>Основным </a:t>
            </a:r>
            <a:r>
              <a:rPr lang="ru-RU" sz="1800" dirty="0" err="1">
                <a:latin typeface="Times New Roman" panose="02020603050405020304" pitchFamily="18" charset="0"/>
                <a:cs typeface="Times New Roman" panose="02020603050405020304" pitchFamily="18" charset="0"/>
              </a:rPr>
              <a:t>конкуретном</a:t>
            </a:r>
            <a:r>
              <a:rPr lang="ru-RU"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Blackbird </a:t>
            </a:r>
            <a:r>
              <a:rPr lang="ru-RU" sz="1800" dirty="0">
                <a:latin typeface="Times New Roman" panose="02020603050405020304" pitchFamily="18" charset="0"/>
                <a:cs typeface="Times New Roman" panose="02020603050405020304" pitchFamily="18" charset="0"/>
              </a:rPr>
              <a:t>будет выступать советский перехватчик МиГ-25, прямых аналогов у </a:t>
            </a:r>
            <a:r>
              <a:rPr lang="en-US" sz="1800" dirty="0">
                <a:latin typeface="Times New Roman" panose="02020603050405020304" pitchFamily="18" charset="0"/>
                <a:cs typeface="Times New Roman" panose="02020603050405020304" pitchFamily="18" charset="0"/>
              </a:rPr>
              <a:t>Blackbird </a:t>
            </a:r>
            <a:r>
              <a:rPr lang="ru-RU" sz="1800" dirty="0">
                <a:latin typeface="Times New Roman" panose="02020603050405020304" pitchFamily="18" charset="0"/>
                <a:cs typeface="Times New Roman" panose="02020603050405020304" pitchFamily="18" charset="0"/>
              </a:rPr>
              <a:t>не существует.</a:t>
            </a:r>
          </a:p>
        </p:txBody>
      </p:sp>
      <p:sp>
        <p:nvSpPr>
          <p:cNvPr id="2" name="TextBox 1"/>
          <p:cNvSpPr txBox="1"/>
          <p:nvPr/>
        </p:nvSpPr>
        <p:spPr>
          <a:xfrm>
            <a:off x="242554" y="1844824"/>
            <a:ext cx="8548519" cy="307777"/>
          </a:xfrm>
          <a:prstGeom prst="rect">
            <a:avLst/>
          </a:prstGeom>
          <a:noFill/>
        </p:spPr>
        <p:txBody>
          <a:bodyPr wrap="square" rtlCol="0">
            <a:spAutoFit/>
          </a:bodyPr>
          <a:lstStyle/>
          <a:p>
            <a:pPr algn="just"/>
            <a:endParaRPr lang="ru-RU" sz="1400" dirty="0">
              <a:latin typeface="Times New Roman" panose="02020603050405020304" pitchFamily="18" charset="0"/>
              <a:cs typeface="Times New Roman" panose="02020603050405020304" pitchFamily="18" charset="0"/>
            </a:endParaRPr>
          </a:p>
        </p:txBody>
      </p:sp>
      <p:pic>
        <p:nvPicPr>
          <p:cNvPr id="2050" name="Picture 2" descr="Picture backgroun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7744" y="3212976"/>
            <a:ext cx="5124537" cy="33629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8104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706090"/>
          </a:xfrm>
        </p:spPr>
        <p:txBody>
          <a:bodyPr>
            <a:normAutofit/>
          </a:bodyPr>
          <a:lstStyle/>
          <a:p>
            <a:r>
              <a:rPr lang="ru-RU" sz="2800" b="1" dirty="0">
                <a:effectLst>
                  <a:outerShdw blurRad="38100" dist="38100" dir="2700000" algn="tl">
                    <a:srgbClr val="000000">
                      <a:alpha val="43137"/>
                    </a:srgbClr>
                  </a:outerShdw>
                </a:effectLst>
              </a:rPr>
              <a:t>Тактико-технические характеристики</a:t>
            </a:r>
          </a:p>
        </p:txBody>
      </p:sp>
      <p:sp>
        <p:nvSpPr>
          <p:cNvPr id="3" name="Объект 2"/>
          <p:cNvSpPr>
            <a:spLocks noGrp="1"/>
          </p:cNvSpPr>
          <p:nvPr>
            <p:ph idx="1"/>
          </p:nvPr>
        </p:nvSpPr>
        <p:spPr>
          <a:xfrm>
            <a:off x="539552" y="1412776"/>
            <a:ext cx="8229600" cy="4525963"/>
          </a:xfrm>
        </p:spPr>
        <p:txBody>
          <a:bodyPr numCol="2">
            <a:normAutofit fontScale="70000" lnSpcReduction="20000"/>
          </a:bodyPr>
          <a:lstStyle/>
          <a:p>
            <a:pPr marL="0" indent="0" fontAlgn="base">
              <a:buNone/>
            </a:pPr>
            <a:r>
              <a:rPr lang="ru-RU" b="1" dirty="0" smtClean="0"/>
              <a:t>Экипаж:</a:t>
            </a:r>
          </a:p>
          <a:p>
            <a:pPr marL="0" indent="0" fontAlgn="base">
              <a:buNone/>
            </a:pPr>
            <a:r>
              <a:rPr lang="ru-RU" dirty="0" smtClean="0"/>
              <a:t>- 2 человека</a:t>
            </a:r>
            <a:endParaRPr lang="ru-RU" dirty="0"/>
          </a:p>
          <a:p>
            <a:pPr marL="0" indent="0" fontAlgn="base">
              <a:buNone/>
            </a:pPr>
            <a:r>
              <a:rPr lang="ru-RU" b="1" dirty="0" smtClean="0"/>
              <a:t>Вооружение</a:t>
            </a:r>
            <a:endParaRPr lang="ru-RU" dirty="0"/>
          </a:p>
          <a:p>
            <a:pPr marL="0" indent="0" fontAlgn="base">
              <a:buNone/>
            </a:pPr>
            <a:r>
              <a:rPr lang="ru-RU" dirty="0"/>
              <a:t>- </a:t>
            </a:r>
            <a:r>
              <a:rPr lang="ru-RU" dirty="0" smtClean="0"/>
              <a:t>Отсутствует</a:t>
            </a:r>
            <a:endParaRPr lang="ru-RU" dirty="0"/>
          </a:p>
          <a:p>
            <a:pPr marL="0" indent="0" fontAlgn="base">
              <a:buNone/>
            </a:pPr>
            <a:r>
              <a:rPr lang="ru-RU" b="1" dirty="0" smtClean="0"/>
              <a:t>Размеры:</a:t>
            </a:r>
          </a:p>
          <a:p>
            <a:pPr marL="0" indent="0" fontAlgn="base">
              <a:buNone/>
            </a:pPr>
            <a:r>
              <a:rPr lang="ru-RU" dirty="0" smtClean="0"/>
              <a:t>- Длина</a:t>
            </a:r>
            <a:r>
              <a:rPr lang="ru-RU" dirty="0"/>
              <a:t>: </a:t>
            </a:r>
            <a:r>
              <a:rPr lang="ru-RU" dirty="0" smtClean="0"/>
              <a:t>32</a:t>
            </a:r>
            <a:r>
              <a:rPr lang="en-US" dirty="0" smtClean="0"/>
              <a:t>,</a:t>
            </a:r>
            <a:r>
              <a:rPr lang="ru-RU" dirty="0" smtClean="0"/>
              <a:t>74 м</a:t>
            </a:r>
            <a:br>
              <a:rPr lang="ru-RU" dirty="0" smtClean="0"/>
            </a:br>
            <a:r>
              <a:rPr lang="ru-RU" dirty="0" smtClean="0"/>
              <a:t>- </a:t>
            </a:r>
            <a:r>
              <a:rPr lang="ru-RU" dirty="0"/>
              <a:t>Размах крыла: 16,95</a:t>
            </a:r>
            <a:r>
              <a:rPr lang="ru-RU" dirty="0" smtClean="0"/>
              <a:t> </a:t>
            </a:r>
            <a:r>
              <a:rPr lang="ru-RU" dirty="0"/>
              <a:t>м</a:t>
            </a:r>
            <a:br>
              <a:rPr lang="ru-RU" dirty="0"/>
            </a:br>
            <a:r>
              <a:rPr lang="ru-RU" dirty="0"/>
              <a:t>- Высота: </a:t>
            </a:r>
            <a:r>
              <a:rPr lang="ru-RU" dirty="0" smtClean="0"/>
              <a:t>5</a:t>
            </a:r>
            <a:r>
              <a:rPr lang="en-US" dirty="0" smtClean="0"/>
              <a:t>,64</a:t>
            </a:r>
            <a:r>
              <a:rPr lang="ru-RU" dirty="0" smtClean="0"/>
              <a:t> </a:t>
            </a:r>
            <a:r>
              <a:rPr lang="ru-RU" dirty="0"/>
              <a:t>м</a:t>
            </a:r>
            <a:br>
              <a:rPr lang="ru-RU" dirty="0"/>
            </a:br>
            <a:r>
              <a:rPr lang="ru-RU" dirty="0"/>
              <a:t>- Площадь крыла: </a:t>
            </a:r>
            <a:r>
              <a:rPr lang="en-US" dirty="0" smtClean="0"/>
              <a:t>167,23</a:t>
            </a:r>
            <a:r>
              <a:rPr lang="ru-RU" dirty="0" smtClean="0"/>
              <a:t> м2</a:t>
            </a:r>
            <a:endParaRPr lang="en-US" dirty="0" smtClean="0"/>
          </a:p>
          <a:p>
            <a:pPr marL="0" indent="0" fontAlgn="base">
              <a:buNone/>
            </a:pPr>
            <a:r>
              <a:rPr lang="ru-RU" b="1" dirty="0" smtClean="0"/>
              <a:t>Масса:</a:t>
            </a:r>
          </a:p>
          <a:p>
            <a:pPr marL="0" indent="0" fontAlgn="base">
              <a:buNone/>
            </a:pPr>
            <a:r>
              <a:rPr lang="ru-RU" dirty="0" smtClean="0"/>
              <a:t>- Масса пустого самолёта снаряжённого</a:t>
            </a:r>
            <a:r>
              <a:rPr lang="ru-RU" dirty="0"/>
              <a:t>: </a:t>
            </a:r>
            <a:r>
              <a:rPr lang="ru-RU" dirty="0" smtClean="0"/>
              <a:t>27 215кг</a:t>
            </a:r>
            <a:r>
              <a:rPr lang="ru-RU" dirty="0"/>
              <a:t/>
            </a:r>
            <a:br>
              <a:rPr lang="ru-RU" dirty="0"/>
            </a:br>
            <a:r>
              <a:rPr lang="ru-RU" dirty="0" smtClean="0"/>
              <a:t>- Удельная нагрузка на крыло: 380 кг</a:t>
            </a:r>
            <a:r>
              <a:rPr lang="en-US" dirty="0" smtClean="0"/>
              <a:t>/</a:t>
            </a:r>
            <a:r>
              <a:rPr lang="ru-RU" dirty="0" smtClean="0"/>
              <a:t>м2</a:t>
            </a:r>
            <a:endParaRPr lang="ru-RU" b="1" dirty="0" smtClean="0"/>
          </a:p>
          <a:p>
            <a:pPr marL="0" indent="0" fontAlgn="base">
              <a:buNone/>
            </a:pPr>
            <a:r>
              <a:rPr lang="ru-RU" b="1" dirty="0" smtClean="0"/>
              <a:t>Двигатели</a:t>
            </a:r>
          </a:p>
          <a:p>
            <a:pPr marL="0" indent="0" fontAlgn="base">
              <a:buNone/>
            </a:pPr>
            <a:r>
              <a:rPr lang="ru-RU" dirty="0" smtClean="0"/>
              <a:t>- </a:t>
            </a:r>
            <a:r>
              <a:rPr lang="ru-RU" dirty="0"/>
              <a:t>2 × ТРДФ </a:t>
            </a:r>
            <a:r>
              <a:rPr lang="en-US" dirty="0"/>
              <a:t>Pratt &amp; Whitney J58</a:t>
            </a:r>
            <a:r>
              <a:rPr lang="ru-RU" dirty="0"/>
              <a:t/>
            </a:r>
            <a:br>
              <a:rPr lang="ru-RU" dirty="0"/>
            </a:br>
            <a:r>
              <a:rPr lang="ru-RU" dirty="0"/>
              <a:t>- Тяга: </a:t>
            </a:r>
            <a:r>
              <a:rPr lang="ru-RU" dirty="0" smtClean="0"/>
              <a:t>10340 кгс</a:t>
            </a:r>
            <a:r>
              <a:rPr lang="ru-RU" dirty="0"/>
              <a:t/>
            </a:r>
            <a:br>
              <a:rPr lang="ru-RU" dirty="0"/>
            </a:br>
            <a:r>
              <a:rPr lang="ru-RU" b="1" dirty="0" smtClean="0"/>
              <a:t>Скорость</a:t>
            </a:r>
            <a:endParaRPr lang="ru-RU" dirty="0"/>
          </a:p>
          <a:p>
            <a:pPr marL="0" indent="0" fontAlgn="base">
              <a:buNone/>
            </a:pPr>
            <a:r>
              <a:rPr lang="ru-RU" dirty="0"/>
              <a:t>- Крейсерская скорость: </a:t>
            </a:r>
            <a:r>
              <a:rPr lang="ru-RU" dirty="0" smtClean="0"/>
              <a:t>3300 км/ч (на высоте 24 км)</a:t>
            </a:r>
            <a:r>
              <a:rPr lang="ru-RU" dirty="0"/>
              <a:t/>
            </a:r>
            <a:br>
              <a:rPr lang="ru-RU" dirty="0"/>
            </a:br>
            <a:r>
              <a:rPr lang="ru-RU" dirty="0"/>
              <a:t>- Длина разбега: </a:t>
            </a:r>
            <a:r>
              <a:rPr lang="ru-RU" dirty="0" smtClean="0"/>
              <a:t>1646 </a:t>
            </a:r>
            <a:r>
              <a:rPr lang="ru-RU" dirty="0"/>
              <a:t>м</a:t>
            </a:r>
            <a:br>
              <a:rPr lang="ru-RU" dirty="0"/>
            </a:br>
            <a:r>
              <a:rPr lang="ru-RU" dirty="0"/>
              <a:t>- Длина пробега: </a:t>
            </a:r>
            <a:r>
              <a:rPr lang="ru-RU" dirty="0" smtClean="0"/>
              <a:t>1097 </a:t>
            </a:r>
            <a:r>
              <a:rPr lang="ru-RU" dirty="0"/>
              <a:t>м</a:t>
            </a:r>
          </a:p>
          <a:p>
            <a:pPr marL="0" indent="0" fontAlgn="base">
              <a:buNone/>
            </a:pPr>
            <a:r>
              <a:rPr lang="ru-RU" b="1" dirty="0"/>
              <a:t>Дальность </a:t>
            </a:r>
            <a:r>
              <a:rPr lang="ru-RU" b="1" dirty="0" smtClean="0"/>
              <a:t>полета</a:t>
            </a:r>
          </a:p>
          <a:p>
            <a:pPr marL="0" indent="0" fontAlgn="base">
              <a:buNone/>
            </a:pPr>
            <a:r>
              <a:rPr lang="ru-RU" dirty="0" smtClean="0"/>
              <a:t>- 4800 </a:t>
            </a:r>
            <a:r>
              <a:rPr lang="ru-RU" dirty="0"/>
              <a:t>км</a:t>
            </a:r>
          </a:p>
          <a:p>
            <a:pPr marL="0" indent="0" fontAlgn="base">
              <a:buNone/>
            </a:pPr>
            <a:r>
              <a:rPr lang="ru-RU" b="1" dirty="0"/>
              <a:t>Практический </a:t>
            </a:r>
            <a:r>
              <a:rPr lang="ru-RU" b="1" dirty="0" smtClean="0"/>
              <a:t>потолок</a:t>
            </a:r>
          </a:p>
          <a:p>
            <a:pPr marL="0" indent="0" fontAlgn="base">
              <a:buNone/>
            </a:pPr>
            <a:r>
              <a:rPr lang="ru-RU" dirty="0" smtClean="0"/>
              <a:t>- 25 900м</a:t>
            </a:r>
            <a:endParaRPr lang="ru-RU" dirty="0"/>
          </a:p>
          <a:p>
            <a:endParaRPr lang="ru-RU" dirty="0"/>
          </a:p>
        </p:txBody>
      </p:sp>
    </p:spTree>
    <p:extLst>
      <p:ext uri="{BB962C8B-B14F-4D97-AF65-F5344CB8AC3E}">
        <p14:creationId xmlns:p14="http://schemas.microsoft.com/office/powerpoint/2010/main" val="2022249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778098"/>
          </a:xfrm>
        </p:spPr>
        <p:txBody>
          <a:bodyPr>
            <a:normAutofit/>
          </a:bodyPr>
          <a:lstStyle/>
          <a:p>
            <a:r>
              <a:rPr lang="ru-RU" sz="2800" b="1" dirty="0">
                <a:effectLst>
                  <a:outerShdw blurRad="38100" dist="38100" dir="2700000" algn="tl">
                    <a:srgbClr val="000000">
                      <a:alpha val="43137"/>
                    </a:srgbClr>
                  </a:outerShdw>
                </a:effectLst>
              </a:rPr>
              <a:t>Предприятие-разработчик</a:t>
            </a:r>
          </a:p>
        </p:txBody>
      </p:sp>
      <p:sp>
        <p:nvSpPr>
          <p:cNvPr id="3" name="Объект 2"/>
          <p:cNvSpPr>
            <a:spLocks noGrp="1"/>
          </p:cNvSpPr>
          <p:nvPr>
            <p:ph idx="1"/>
          </p:nvPr>
        </p:nvSpPr>
        <p:spPr>
          <a:xfrm>
            <a:off x="457200" y="1600201"/>
            <a:ext cx="8229600" cy="1468760"/>
          </a:xfrm>
        </p:spPr>
        <p:txBody>
          <a:bodyPr>
            <a:normAutofit/>
          </a:bodyPr>
          <a:lstStyle/>
          <a:p>
            <a:pPr marL="0" indent="0" algn="just">
              <a:buNone/>
            </a:pPr>
            <a:r>
              <a:rPr lang="ru-RU" sz="2000" dirty="0"/>
              <a:t>    Разработчик:  </a:t>
            </a:r>
            <a:r>
              <a:rPr lang="en-US" sz="2000" dirty="0"/>
              <a:t>Skunk </a:t>
            </a:r>
            <a:r>
              <a:rPr lang="en-US" sz="2000" dirty="0" smtClean="0"/>
              <a:t>Works</a:t>
            </a:r>
          </a:p>
          <a:p>
            <a:pPr marL="0" indent="0" algn="just">
              <a:buNone/>
            </a:pPr>
            <a:r>
              <a:rPr lang="ru-RU" sz="2000" dirty="0" smtClean="0"/>
              <a:t>    Производитель: </a:t>
            </a:r>
            <a:r>
              <a:rPr lang="en-US" sz="2000" dirty="0"/>
              <a:t>Lockheed Corporation</a:t>
            </a:r>
            <a:endParaRPr lang="ru-RU" sz="2000" dirty="0" smtClean="0"/>
          </a:p>
          <a:p>
            <a:pPr marL="0" indent="0" algn="just">
              <a:buNone/>
            </a:pPr>
            <a:r>
              <a:rPr lang="ru-RU" sz="2000" dirty="0" smtClean="0"/>
              <a:t>    </a:t>
            </a:r>
            <a:r>
              <a:rPr lang="ru-RU" sz="2000" dirty="0"/>
              <a:t>Главный конструктор: </a:t>
            </a:r>
            <a:r>
              <a:rPr lang="ru-RU" sz="2000" dirty="0" err="1"/>
              <a:t>Кларенс</a:t>
            </a:r>
            <a:r>
              <a:rPr lang="ru-RU" sz="2000" dirty="0"/>
              <a:t> «Келли» Джонсон</a:t>
            </a:r>
          </a:p>
        </p:txBody>
      </p:sp>
      <p:pic>
        <p:nvPicPr>
          <p:cNvPr id="5126" name="Picture 6" descr="Picture backgroun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2055" y="3501008"/>
            <a:ext cx="6679889" cy="2880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42919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706090"/>
          </a:xfrm>
        </p:spPr>
        <p:txBody>
          <a:bodyPr>
            <a:normAutofit/>
          </a:bodyPr>
          <a:lstStyle/>
          <a:p>
            <a:r>
              <a:rPr lang="ru-RU" sz="2800" b="1" dirty="0">
                <a:effectLst>
                  <a:outerShdw blurRad="38100" dist="38100" dir="2700000" algn="tl">
                    <a:srgbClr val="000000">
                      <a:alpha val="43137"/>
                    </a:srgbClr>
                  </a:outerShdw>
                </a:effectLst>
              </a:rPr>
              <a:t>Зарубежные </a:t>
            </a:r>
            <a:r>
              <a:rPr lang="ru-RU" sz="2800" b="1" dirty="0" smtClean="0">
                <a:effectLst>
                  <a:outerShdw blurRad="38100" dist="38100" dir="2700000" algn="tl">
                    <a:srgbClr val="000000">
                      <a:alpha val="43137"/>
                    </a:srgbClr>
                  </a:outerShdw>
                </a:effectLst>
              </a:rPr>
              <a:t>аналоги</a:t>
            </a:r>
            <a:endParaRPr lang="ru-RU" sz="2800" b="1" dirty="0">
              <a:effectLst>
                <a:outerShdw blurRad="38100" dist="38100" dir="2700000" algn="tl">
                  <a:srgbClr val="000000">
                    <a:alpha val="43137"/>
                  </a:srgbClr>
                </a:outerShdw>
              </a:effectLst>
            </a:endParaRPr>
          </a:p>
        </p:txBody>
      </p:sp>
      <p:sp>
        <p:nvSpPr>
          <p:cNvPr id="3" name="Объект 2"/>
          <p:cNvSpPr>
            <a:spLocks noGrp="1"/>
          </p:cNvSpPr>
          <p:nvPr>
            <p:ph idx="1"/>
          </p:nvPr>
        </p:nvSpPr>
        <p:spPr/>
        <p:txBody>
          <a:bodyPr/>
          <a:lstStyle/>
          <a:p>
            <a:pPr marL="0" indent="0">
              <a:buNone/>
            </a:pPr>
            <a:r>
              <a:rPr lang="ru-RU" dirty="0"/>
              <a:t> </a:t>
            </a:r>
          </a:p>
        </p:txBody>
      </p:sp>
      <p:sp>
        <p:nvSpPr>
          <p:cNvPr id="4" name="TextBox 3"/>
          <p:cNvSpPr txBox="1"/>
          <p:nvPr/>
        </p:nvSpPr>
        <p:spPr>
          <a:xfrm>
            <a:off x="981944" y="1124744"/>
            <a:ext cx="7704856" cy="646331"/>
          </a:xfrm>
          <a:prstGeom prst="rect">
            <a:avLst/>
          </a:prstGeom>
          <a:noFill/>
        </p:spPr>
        <p:txBody>
          <a:bodyPr wrap="square" rtlCol="0">
            <a:spAutoFit/>
          </a:bodyPr>
          <a:lstStyle/>
          <a:p>
            <a:r>
              <a:rPr lang="ru-RU" dirty="0" smtClean="0"/>
              <a:t>Так как прямых аналогов у </a:t>
            </a:r>
            <a:r>
              <a:rPr lang="en-US" dirty="0" smtClean="0"/>
              <a:t>SR-71 </a:t>
            </a:r>
            <a:r>
              <a:rPr lang="ru-RU" dirty="0" smtClean="0"/>
              <a:t>не существует, рассмотрим самолёт, созданный для борьбы с ним – МиГ-25</a:t>
            </a:r>
            <a:endParaRPr lang="ru-RU" dirty="0"/>
          </a:p>
        </p:txBody>
      </p:sp>
      <p:pic>
        <p:nvPicPr>
          <p:cNvPr id="4098" name="Picture 2" descr="Picture backgrou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2648" y="2023741"/>
            <a:ext cx="6623447" cy="46933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070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634082"/>
          </a:xfrm>
        </p:spPr>
        <p:txBody>
          <a:bodyPr>
            <a:normAutofit/>
          </a:bodyPr>
          <a:lstStyle/>
          <a:p>
            <a:r>
              <a:rPr lang="ru-RU" sz="2800" b="1" dirty="0" err="1">
                <a:effectLst>
                  <a:outerShdw blurRad="38100" dist="38100" dir="2700000" algn="tl">
                    <a:srgbClr val="000000">
                      <a:alpha val="43137"/>
                    </a:srgbClr>
                  </a:outerShdw>
                </a:effectLst>
              </a:rPr>
              <a:t>Спецчасть</a:t>
            </a:r>
            <a:endParaRPr lang="ru-RU" sz="2800" b="1" dirty="0">
              <a:effectLst>
                <a:outerShdw blurRad="38100" dist="38100" dir="2700000" algn="tl">
                  <a:srgbClr val="000000">
                    <a:alpha val="43137"/>
                  </a:srgbClr>
                </a:outerShdw>
              </a:effectLst>
            </a:endParaRPr>
          </a:p>
        </p:txBody>
      </p:sp>
      <p:sp>
        <p:nvSpPr>
          <p:cNvPr id="3" name="Объект 2"/>
          <p:cNvSpPr>
            <a:spLocks noGrp="1"/>
          </p:cNvSpPr>
          <p:nvPr>
            <p:ph idx="1"/>
          </p:nvPr>
        </p:nvSpPr>
        <p:spPr>
          <a:xfrm>
            <a:off x="395536" y="980729"/>
            <a:ext cx="8229600" cy="3528391"/>
          </a:xfrm>
        </p:spPr>
        <p:txBody>
          <a:bodyPr>
            <a:normAutofit/>
          </a:bodyPr>
          <a:lstStyle/>
          <a:p>
            <a:pPr marL="0" indent="0" algn="just">
              <a:buNone/>
            </a:pPr>
            <a:endParaRPr lang="ru-RU" sz="2000" b="1" dirty="0">
              <a:effectLst>
                <a:outerShdw blurRad="38100" dist="38100" dir="2700000" algn="tl">
                  <a:srgbClr val="000000">
                    <a:alpha val="43137"/>
                  </a:srgbClr>
                </a:outerShdw>
              </a:effectLst>
            </a:endParaRPr>
          </a:p>
          <a:p>
            <a:pPr marL="0" indent="0">
              <a:buNone/>
            </a:pPr>
            <a:endParaRPr lang="ru-RU" dirty="0"/>
          </a:p>
        </p:txBody>
      </p:sp>
      <p:pic>
        <p:nvPicPr>
          <p:cNvPr id="5" name="Рисунок 4"/>
          <p:cNvPicPr>
            <a:picLocks noChangeAspect="1"/>
          </p:cNvPicPr>
          <p:nvPr/>
        </p:nvPicPr>
        <p:blipFill>
          <a:blip r:embed="rId2"/>
          <a:stretch>
            <a:fillRect/>
          </a:stretch>
        </p:blipFill>
        <p:spPr>
          <a:xfrm>
            <a:off x="2195736" y="3933056"/>
            <a:ext cx="4932412" cy="2771489"/>
          </a:xfrm>
          <a:prstGeom prst="rect">
            <a:avLst/>
          </a:prstGeom>
        </p:spPr>
      </p:pic>
      <mc:AlternateContent xmlns:mc="http://schemas.openxmlformats.org/markup-compatibility/2006" xmlns:a14="http://schemas.microsoft.com/office/drawing/2010/main">
        <mc:Choice Requires="a14">
          <p:sp>
            <p:nvSpPr>
              <p:cNvPr id="6" name="Прямоугольник 5"/>
              <p:cNvSpPr/>
              <p:nvPr/>
            </p:nvSpPr>
            <p:spPr>
              <a:xfrm>
                <a:off x="449474" y="854043"/>
                <a:ext cx="8424936" cy="3039294"/>
              </a:xfrm>
              <a:prstGeom prst="rect">
                <a:avLst/>
              </a:prstGeom>
            </p:spPr>
            <p:txBody>
              <a:bodyPr wrap="square">
                <a:spAutoFit/>
              </a:bodyPr>
              <a:lstStyle/>
              <a:p>
                <a:pPr marL="342900" lvl="0" indent="-342900">
                  <a:lnSpc>
                    <a:spcPct val="107000"/>
                  </a:lnSpc>
                  <a:spcAft>
                    <a:spcPts val="0"/>
                  </a:spcAft>
                  <a:buFont typeface="Symbol" panose="05050102010706020507" pitchFamily="18" charset="2"/>
                  <a:buChar char=""/>
                </a:pPr>
                <a:r>
                  <a:rPr lang="ru-RU" dirty="0">
                    <a:latin typeface="Times New Roman" panose="02020603050405020304" pitchFamily="18" charset="0"/>
                    <a:ea typeface="Calibri" panose="020F0502020204030204" pitchFamily="34" charset="0"/>
                    <a:cs typeface="Times New Roman" panose="02020603050405020304" pitchFamily="18" charset="0"/>
                  </a:rPr>
                  <a:t>Вид самолёта в зависимости от дальности полёта: </a:t>
                </a:r>
                <a:r>
                  <a:rPr lang="ru-RU" dirty="0" err="1">
                    <a:latin typeface="Times New Roman" panose="02020603050405020304" pitchFamily="18" charset="0"/>
                    <a:ea typeface="Calibri" panose="020F0502020204030204" pitchFamily="34" charset="0"/>
                    <a:cs typeface="Times New Roman" panose="02020603050405020304" pitchFamily="18" charset="0"/>
                  </a:rPr>
                  <a:t>Дальнемагистральный</a:t>
                </a:r>
                <a:r>
                  <a:rPr lang="ru-RU" dirty="0">
                    <a:latin typeface="Times New Roman" panose="02020603050405020304" pitchFamily="18" charset="0"/>
                    <a:ea typeface="Calibri" panose="020F0502020204030204" pitchFamily="34" charset="0"/>
                    <a:cs typeface="Times New Roman" panose="02020603050405020304" pitchFamily="18" charset="0"/>
                  </a:rPr>
                  <a:t> (дальность полета составляет около 5 300 км)</a:t>
                </a:r>
                <a:endParaRPr lang="ru-RU"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Symbol" panose="05050102010706020507" pitchFamily="18" charset="2"/>
                  <a:buChar char=""/>
                </a:pPr>
                <a:r>
                  <a:rPr lang="ru-RU" dirty="0">
                    <a:effectLst/>
                    <a:latin typeface="Times New Roman" panose="02020603050405020304" pitchFamily="18" charset="0"/>
                    <a:ea typeface="Calibri" panose="020F0502020204030204" pitchFamily="34" charset="0"/>
                    <a:cs typeface="Times New Roman" panose="02020603050405020304" pitchFamily="18" charset="0"/>
                  </a:rPr>
                  <a:t>Класс самолёта по взлётной массе: 1-ый класс, взлётная масса – 77100 кг.</a:t>
                </a:r>
                <a:endParaRPr lang="ru-RU"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ru-RU" dirty="0">
                    <a:effectLst/>
                    <a:latin typeface="Times New Roman" panose="02020603050405020304" pitchFamily="18" charset="0"/>
                    <a:ea typeface="Calibri" panose="020F0502020204030204" pitchFamily="34" charset="0"/>
                    <a:cs typeface="Times New Roman" panose="02020603050405020304" pitchFamily="18" charset="0"/>
                  </a:rPr>
                  <a:t>Число махов и тип самолёта по скорости полёта:</a:t>
                </a:r>
                <a:endParaRPr lang="ru-RU"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ru-RU" i="1">
                          <a:effectLst/>
                          <a:latin typeface="Cambria Math" panose="02040503050406030204" pitchFamily="18" charset="0"/>
                          <a:ea typeface="Calibri" panose="020F0502020204030204" pitchFamily="34" charset="0"/>
                          <a:cs typeface="Times New Roman" panose="02020603050405020304" pitchFamily="18" charset="0"/>
                        </a:rPr>
                        <m:t>𝑀</m:t>
                      </m:r>
                      <m:r>
                        <a:rPr lang="ru-RU" i="1">
                          <a:effectLst/>
                          <a:latin typeface="Cambria Math" panose="02040503050406030204" pitchFamily="18" charset="0"/>
                          <a:ea typeface="Calibri" panose="020F0502020204030204" pitchFamily="34" charset="0"/>
                          <a:cs typeface="Times New Roman" panose="02020603050405020304" pitchFamily="18" charset="0"/>
                        </a:rPr>
                        <m:t>= </m:t>
                      </m:r>
                      <m:f>
                        <m:fPr>
                          <m:ctrlPr>
                            <a:rPr lang="ru-RU" i="1">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ru-RU"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i="1">
                                  <a:effectLst/>
                                  <a:latin typeface="Cambria Math" panose="02040503050406030204" pitchFamily="18" charset="0"/>
                                  <a:ea typeface="Calibri" panose="020F0502020204030204" pitchFamily="34" charset="0"/>
                                  <a:cs typeface="Times New Roman" panose="02020603050405020304" pitchFamily="18" charset="0"/>
                                </a:rPr>
                                <m:t>𝑉</m:t>
                              </m:r>
                            </m:e>
                            <m:sub>
                              <m:r>
                                <a:rPr lang="ru-RU" i="1">
                                  <a:effectLst/>
                                  <a:latin typeface="Cambria Math" panose="02040503050406030204" pitchFamily="18" charset="0"/>
                                  <a:ea typeface="Calibri" panose="020F0502020204030204" pitchFamily="34" charset="0"/>
                                  <a:cs typeface="Times New Roman" panose="02020603050405020304" pitchFamily="18" charset="0"/>
                                </a:rPr>
                                <m:t>полёта</m:t>
                              </m:r>
                            </m:sub>
                          </m:sSub>
                        </m:num>
                        <m:den>
                          <m:sSub>
                            <m:sSubPr>
                              <m:ctrlPr>
                                <a:rPr lang="ru-RU"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effectLst/>
                                  <a:latin typeface="Cambria Math" panose="02040503050406030204" pitchFamily="18" charset="0"/>
                                  <a:ea typeface="Calibri" panose="020F0502020204030204" pitchFamily="34" charset="0"/>
                                  <a:cs typeface="Times New Roman" panose="02020603050405020304" pitchFamily="18" charset="0"/>
                                </a:rPr>
                                <m:t>𝑉</m:t>
                              </m:r>
                            </m:e>
                            <m:sub>
                              <m:r>
                                <a:rPr lang="ru-RU" i="1">
                                  <a:effectLst/>
                                  <a:latin typeface="Cambria Math" panose="02040503050406030204" pitchFamily="18" charset="0"/>
                                  <a:ea typeface="Calibri" panose="020F0502020204030204" pitchFamily="34" charset="0"/>
                                  <a:cs typeface="Times New Roman" panose="02020603050405020304" pitchFamily="18" charset="0"/>
                                </a:rPr>
                                <m:t>звука</m:t>
                              </m:r>
                            </m:sub>
                          </m:sSub>
                        </m:den>
                      </m:f>
                      <m:r>
                        <a:rPr lang="ru-RU" i="1">
                          <a:effectLst/>
                          <a:latin typeface="Cambria Math" panose="02040503050406030204" pitchFamily="18" charset="0"/>
                          <a:ea typeface="Calibri" panose="020F0502020204030204" pitchFamily="34" charset="0"/>
                          <a:cs typeface="Times New Roman" panose="02020603050405020304" pitchFamily="18" charset="0"/>
                        </a:rPr>
                        <m:t>=</m:t>
                      </m:r>
                      <m:f>
                        <m:fPr>
                          <m:ctrlPr>
                            <a:rPr lang="ru-RU" i="1">
                              <a:effectLst/>
                              <a:latin typeface="Cambria Math" panose="02040503050406030204" pitchFamily="18" charset="0"/>
                              <a:ea typeface="Calibri" panose="020F0502020204030204" pitchFamily="34" charset="0"/>
                              <a:cs typeface="Times New Roman" panose="02020603050405020304" pitchFamily="18" charset="0"/>
                            </a:rPr>
                          </m:ctrlPr>
                        </m:fPr>
                        <m:num>
                          <m:r>
                            <a:rPr lang="ru-RU" i="1">
                              <a:effectLst/>
                              <a:latin typeface="Cambria Math" panose="02040503050406030204" pitchFamily="18" charset="0"/>
                              <a:ea typeface="Calibri" panose="020F0502020204030204" pitchFamily="34" charset="0"/>
                              <a:cs typeface="Times New Roman" panose="02020603050405020304" pitchFamily="18" charset="0"/>
                            </a:rPr>
                            <m:t>3540</m:t>
                          </m:r>
                        </m:num>
                        <m:den>
                          <m:r>
                            <a:rPr lang="ru-RU" i="1">
                              <a:effectLst/>
                              <a:latin typeface="Cambria Math" panose="02040503050406030204" pitchFamily="18" charset="0"/>
                              <a:ea typeface="Calibri" panose="020F0502020204030204" pitchFamily="34" charset="0"/>
                              <a:cs typeface="Times New Roman" panose="02020603050405020304" pitchFamily="18" charset="0"/>
                            </a:rPr>
                            <m:t>1093</m:t>
                          </m:r>
                        </m:den>
                      </m:f>
                      <m:r>
                        <a:rPr lang="ru-RU" i="1">
                          <a:effectLst/>
                          <a:latin typeface="Cambria Math" panose="02040503050406030204" pitchFamily="18" charset="0"/>
                          <a:ea typeface="Calibri" panose="020F0502020204030204" pitchFamily="34" charset="0"/>
                          <a:cs typeface="Times New Roman" panose="02020603050405020304" pitchFamily="18" charset="0"/>
                        </a:rPr>
                        <m:t>≈3.24М</m:t>
                      </m:r>
                    </m:oMath>
                  </m:oMathPara>
                </a14:m>
                <a:endParaRPr lang="en-US" sz="14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ru-RU" dirty="0"/>
                  <a:t>Самолёт является сверхзвуковым</a:t>
                </a:r>
                <a:r>
                  <a:rPr lang="ru-RU" sz="1400" dirty="0" smtClean="0"/>
                  <a:t>.</a:t>
                </a:r>
                <a:endParaRPr lang="en-US" sz="1400" dirty="0" smtClean="0"/>
              </a:p>
              <a:p>
                <a:pPr marL="285750" lvl="0" indent="-285750">
                  <a:buFont typeface="Arial" panose="020B0604020202020204" pitchFamily="34" charset="0"/>
                  <a:buChar char="•"/>
                </a:pPr>
                <a:r>
                  <a:rPr lang="ru-RU" dirty="0"/>
                  <a:t>Форма крыла – треугольная</a:t>
                </a:r>
                <a:r>
                  <a:rPr lang="ru-RU" dirty="0" smtClean="0"/>
                  <a:t>.</a:t>
                </a:r>
                <a:endParaRPr lang="ru-RU" sz="1400" dirty="0"/>
              </a:p>
              <a:p>
                <a:pPr>
                  <a:lnSpc>
                    <a:spcPct val="107000"/>
                  </a:lnSpc>
                  <a:spcAft>
                    <a:spcPts val="800"/>
                  </a:spcAft>
                </a:pPr>
                <a:endParaRPr lang="ru-RU"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 name="Прямоугольник 5"/>
              <p:cNvSpPr>
                <a:spLocks noRot="1" noChangeAspect="1" noMove="1" noResize="1" noEditPoints="1" noAdjustHandles="1" noChangeArrowheads="1" noChangeShapeType="1" noTextEdit="1"/>
              </p:cNvSpPr>
              <p:nvPr/>
            </p:nvSpPr>
            <p:spPr>
              <a:xfrm>
                <a:off x="449474" y="854043"/>
                <a:ext cx="8424936" cy="3039294"/>
              </a:xfrm>
              <a:prstGeom prst="rect">
                <a:avLst/>
              </a:prstGeom>
              <a:blipFill rotWithShape="0">
                <a:blip r:embed="rId3"/>
                <a:stretch>
                  <a:fillRect l="-651" t="-1202"/>
                </a:stretch>
              </a:blipFill>
            </p:spPr>
            <p:txBody>
              <a:bodyPr/>
              <a:lstStyle/>
              <a:p>
                <a:r>
                  <a:rPr lang="ru-RU">
                    <a:noFill/>
                  </a:rPr>
                  <a:t> </a:t>
                </a:r>
              </a:p>
            </p:txBody>
          </p:sp>
        </mc:Fallback>
      </mc:AlternateContent>
    </p:spTree>
    <p:extLst>
      <p:ext uri="{BB962C8B-B14F-4D97-AF65-F5344CB8AC3E}">
        <p14:creationId xmlns:p14="http://schemas.microsoft.com/office/powerpoint/2010/main" val="3153464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Объект 2"/>
              <p:cNvSpPr>
                <a:spLocks noGrp="1"/>
              </p:cNvSpPr>
              <p:nvPr>
                <p:ph idx="1"/>
              </p:nvPr>
            </p:nvSpPr>
            <p:spPr>
              <a:xfrm>
                <a:off x="323528" y="260649"/>
                <a:ext cx="8496944" cy="1656183"/>
              </a:xfrm>
            </p:spPr>
            <p:txBody>
              <a:bodyPr>
                <a:normAutofit fontScale="40000" lnSpcReduction="20000"/>
              </a:bodyPr>
              <a:lstStyle/>
              <a:p>
                <a:r>
                  <a:rPr lang="ru-RU" sz="4500" dirty="0">
                    <a:latin typeface="Times New Roman" panose="02020603050405020304" pitchFamily="18" charset="0"/>
                    <a:cs typeface="Times New Roman" panose="02020603050405020304" pitchFamily="18" charset="0"/>
                  </a:rPr>
                  <a:t>Поперечный угол крыла</a:t>
                </a:r>
                <a14:m>
                  <m:oMath xmlns:m="http://schemas.openxmlformats.org/officeDocument/2006/math">
                    <m:r>
                      <a:rPr lang="ru-RU" sz="4500" i="1">
                        <a:latin typeface="Cambria Math" panose="02040503050406030204" pitchFamily="18" charset="0"/>
                      </a:rPr>
                      <m:t> ≈0</m:t>
                    </m:r>
                  </m:oMath>
                </a14:m>
                <a:r>
                  <a:rPr lang="ru-RU" sz="4500" dirty="0">
                    <a:latin typeface="Times New Roman" panose="02020603050405020304" pitchFamily="18" charset="0"/>
                    <a:cs typeface="Times New Roman" panose="02020603050405020304" pitchFamily="18" charset="0"/>
                  </a:rPr>
                  <a:t>.</a:t>
                </a:r>
              </a:p>
              <a:p>
                <a:r>
                  <a:rPr lang="ru-RU" sz="4500" dirty="0">
                    <a:latin typeface="Times New Roman" panose="02020603050405020304" pitchFamily="18" charset="0"/>
                    <a:cs typeface="Times New Roman" panose="02020603050405020304" pitchFamily="18" charset="0"/>
                  </a:rPr>
                  <a:t>Угол стреловидности: 60 градусов – прямая стреловидность.</a:t>
                </a:r>
              </a:p>
              <a:p>
                <a:r>
                  <a:rPr lang="ru-RU" sz="4500" dirty="0">
                    <a:latin typeface="Times New Roman" panose="02020603050405020304" pitchFamily="18" charset="0"/>
                    <a:cs typeface="Times New Roman" panose="02020603050405020304" pitchFamily="18" charset="0"/>
                  </a:rPr>
                  <a:t>Класс по числу крыльев: Моноплан.</a:t>
                </a:r>
              </a:p>
              <a:p>
                <a:r>
                  <a:rPr lang="ru-RU" sz="4500" dirty="0">
                    <a:latin typeface="Times New Roman" panose="02020603050405020304" pitchFamily="18" charset="0"/>
                    <a:cs typeface="Times New Roman" panose="02020603050405020304" pitchFamily="18" charset="0"/>
                  </a:rPr>
                  <a:t>Класс по расположению крыльев: среднеплан</a:t>
                </a:r>
              </a:p>
              <a:p>
                <a:r>
                  <a:rPr lang="ru-RU" sz="4500" dirty="0">
                    <a:latin typeface="Times New Roman" panose="02020603050405020304" pitchFamily="18" charset="0"/>
                    <a:cs typeface="Times New Roman" panose="02020603050405020304" pitchFamily="18" charset="0"/>
                  </a:rPr>
                  <a:t>Тип и расположение оперенья: нормальная аэродинамическая схема с хвостовым оперением.</a:t>
                </a:r>
              </a:p>
              <a:p>
                <a:endParaRPr lang="ru-RU"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323528" y="260649"/>
                <a:ext cx="8496944" cy="1656183"/>
              </a:xfrm>
              <a:blipFill rotWithShape="0">
                <a:blip r:embed="rId3"/>
                <a:stretch>
                  <a:fillRect l="-430" t="-5535" r="-789" b="-4428"/>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2" name="Прямоугольник 1"/>
              <p:cNvSpPr/>
              <p:nvPr/>
            </p:nvSpPr>
            <p:spPr>
              <a:xfrm>
                <a:off x="323528" y="2060848"/>
                <a:ext cx="8414402" cy="4224105"/>
              </a:xfrm>
              <a:prstGeom prst="rect">
                <a:avLst/>
              </a:prstGeom>
            </p:spPr>
            <p:txBody>
              <a:bodyPr wrap="square">
                <a:spAutoFit/>
              </a:bodyPr>
              <a:lstStyle/>
              <a:p>
                <a:pPr marL="342900" lvl="0" indent="-342900">
                  <a:lnSpc>
                    <a:spcPct val="107000"/>
                  </a:lnSpc>
                  <a:spcAft>
                    <a:spcPts val="800"/>
                  </a:spcAft>
                  <a:buFont typeface="Symbol" panose="05050102010706020507" pitchFamily="18" charset="2"/>
                  <a:buChar char=""/>
                </a:pPr>
                <a:r>
                  <a:rPr lang="ru-RU" dirty="0">
                    <a:latin typeface="Times New Roman" panose="02020603050405020304" pitchFamily="18" charset="0"/>
                    <a:ea typeface="Calibri" panose="020F0502020204030204" pitchFamily="34" charset="0"/>
                    <a:cs typeface="Times New Roman" panose="02020603050405020304" pitchFamily="18" charset="0"/>
                  </a:rPr>
                  <a:t>Сужение крыла:</a:t>
                </a:r>
                <a:endParaRPr lang="ru-RU"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ru-RU" i="1">
                          <a:effectLst/>
                          <a:latin typeface="Cambria Math" panose="02040503050406030204" pitchFamily="18" charset="0"/>
                          <a:ea typeface="Calibri" panose="020F0502020204030204" pitchFamily="34" charset="0"/>
                          <a:cs typeface="Times New Roman" panose="02020603050405020304" pitchFamily="18" charset="0"/>
                        </a:rPr>
                        <m:t>𝜂</m:t>
                      </m:r>
                      <m:r>
                        <a:rPr lang="ru-RU" i="1">
                          <a:effectLst/>
                          <a:latin typeface="Cambria Math" panose="02040503050406030204" pitchFamily="18" charset="0"/>
                          <a:ea typeface="Calibri" panose="020F0502020204030204" pitchFamily="34" charset="0"/>
                          <a:cs typeface="Times New Roman" panose="02020603050405020304" pitchFamily="18" charset="0"/>
                        </a:rPr>
                        <m:t>=</m:t>
                      </m:r>
                      <m:f>
                        <m:fPr>
                          <m:ctrlPr>
                            <a:rPr lang="ru-RU" i="1">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ru-RU"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i="1">
                                  <a:effectLst/>
                                  <a:latin typeface="Cambria Math" panose="02040503050406030204" pitchFamily="18" charset="0"/>
                                  <a:ea typeface="Calibri" panose="020F0502020204030204" pitchFamily="34" charset="0"/>
                                  <a:cs typeface="Times New Roman" panose="02020603050405020304" pitchFamily="18" charset="0"/>
                                </a:rPr>
                                <m:t>𝑏</m:t>
                              </m:r>
                            </m:e>
                            <m:sub>
                              <m:r>
                                <a:rPr lang="ru-RU" i="1">
                                  <a:effectLst/>
                                  <a:latin typeface="Cambria Math" panose="02040503050406030204" pitchFamily="18" charset="0"/>
                                  <a:ea typeface="Calibri" panose="020F0502020204030204" pitchFamily="34" charset="0"/>
                                  <a:cs typeface="Times New Roman" panose="02020603050405020304" pitchFamily="18" charset="0"/>
                                </a:rPr>
                                <m:t>корн</m:t>
                              </m:r>
                            </m:sub>
                          </m:sSub>
                        </m:num>
                        <m:den>
                          <m:sSub>
                            <m:sSubPr>
                              <m:ctrlPr>
                                <a:rPr lang="ru-RU"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effectLst/>
                                  <a:latin typeface="Cambria Math" panose="02040503050406030204" pitchFamily="18" charset="0"/>
                                  <a:ea typeface="Calibri" panose="020F0502020204030204" pitchFamily="34" charset="0"/>
                                  <a:cs typeface="Times New Roman" panose="02020603050405020304" pitchFamily="18" charset="0"/>
                                </a:rPr>
                                <m:t>𝑏</m:t>
                              </m:r>
                            </m:e>
                            <m:sub>
                              <m:r>
                                <a:rPr lang="ru-RU" i="1">
                                  <a:effectLst/>
                                  <a:latin typeface="Cambria Math" panose="02040503050406030204" pitchFamily="18" charset="0"/>
                                  <a:ea typeface="Calibri" panose="020F0502020204030204" pitchFamily="34" charset="0"/>
                                  <a:cs typeface="Times New Roman" panose="02020603050405020304" pitchFamily="18" charset="0"/>
                                </a:rPr>
                                <m:t>конец</m:t>
                              </m:r>
                            </m:sub>
                          </m:sSub>
                        </m:den>
                      </m:f>
                      <m:r>
                        <a:rPr lang="ru-RU" i="1">
                          <a:effectLst/>
                          <a:latin typeface="Cambria Math" panose="02040503050406030204" pitchFamily="18" charset="0"/>
                          <a:ea typeface="Calibri" panose="020F0502020204030204" pitchFamily="34" charset="0"/>
                          <a:cs typeface="Times New Roman" panose="02020603050405020304" pitchFamily="18" charset="0"/>
                        </a:rPr>
                        <m:t>=</m:t>
                      </m:r>
                      <m:f>
                        <m:fPr>
                          <m:ctrlPr>
                            <a:rPr lang="ru-RU" i="1">
                              <a:effectLst/>
                              <a:latin typeface="Cambria Math" panose="02040503050406030204" pitchFamily="18" charset="0"/>
                              <a:ea typeface="Calibri" panose="020F0502020204030204" pitchFamily="34" charset="0"/>
                              <a:cs typeface="Times New Roman" panose="02020603050405020304" pitchFamily="18" charset="0"/>
                            </a:rPr>
                          </m:ctrlPr>
                        </m:fPr>
                        <m:num>
                          <m:r>
                            <a:rPr lang="ru-RU" i="1">
                              <a:effectLst/>
                              <a:latin typeface="Cambria Math" panose="02040503050406030204" pitchFamily="18" charset="0"/>
                              <a:ea typeface="Calibri" panose="020F0502020204030204" pitchFamily="34" charset="0"/>
                              <a:cs typeface="Times New Roman" panose="02020603050405020304" pitchFamily="18" charset="0"/>
                            </a:rPr>
                            <m:t>5.64</m:t>
                          </m:r>
                        </m:num>
                        <m:den>
                          <m:r>
                            <a:rPr lang="ru-RU" i="1">
                              <a:effectLst/>
                              <a:latin typeface="Cambria Math" panose="02040503050406030204" pitchFamily="18" charset="0"/>
                              <a:ea typeface="Calibri" panose="020F0502020204030204" pitchFamily="34" charset="0"/>
                              <a:cs typeface="Times New Roman" panose="02020603050405020304" pitchFamily="18" charset="0"/>
                            </a:rPr>
                            <m:t>1.41</m:t>
                          </m:r>
                        </m:den>
                      </m:f>
                      <m:r>
                        <a:rPr lang="ru-RU" i="1">
                          <a:effectLst/>
                          <a:latin typeface="Cambria Math" panose="02040503050406030204" pitchFamily="18" charset="0"/>
                          <a:ea typeface="Calibri" panose="020F0502020204030204" pitchFamily="34" charset="0"/>
                          <a:cs typeface="Times New Roman" panose="02020603050405020304" pitchFamily="18" charset="0"/>
                        </a:rPr>
                        <m:t>≈4</m:t>
                      </m:r>
                      <m:r>
                        <a:rPr lang="ru-RU" i="1">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ru-RU"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ru-RU" dirty="0">
                    <a:effectLst/>
                    <a:latin typeface="Times New Roman" panose="02020603050405020304" pitchFamily="18" charset="0"/>
                    <a:ea typeface="Times New Roman" panose="02020603050405020304" pitchFamily="18" charset="0"/>
                    <a:cs typeface="Times New Roman" panose="02020603050405020304" pitchFamily="18" charset="0"/>
                  </a:rPr>
                  <a:t>где </a:t>
                </a:r>
                <a14:m>
                  <m:oMath xmlns:m="http://schemas.openxmlformats.org/officeDocument/2006/math">
                    <m:sSub>
                      <m:sSubPr>
                        <m:ctrlPr>
                          <a:rPr lang="ru-RU" i="1">
                            <a:effectLst/>
                            <a:latin typeface="Cambria Math" panose="02040503050406030204" pitchFamily="18" charset="0"/>
                            <a:ea typeface="Calibri" panose="020F0502020204030204" pitchFamily="34" charset="0"/>
                            <a:cs typeface="Times New Roman" panose="02020603050405020304" pitchFamily="18" charset="0"/>
                          </a:rPr>
                        </m:ctrlPr>
                      </m:sSubPr>
                      <m:e>
                        <m:r>
                          <a:rPr lang="ru-RU" i="1">
                            <a:effectLst/>
                            <a:latin typeface="Cambria Math" panose="02040503050406030204" pitchFamily="18" charset="0"/>
                            <a:ea typeface="Calibri" panose="020F0502020204030204" pitchFamily="34" charset="0"/>
                            <a:cs typeface="Times New Roman" panose="02020603050405020304" pitchFamily="18" charset="0"/>
                          </a:rPr>
                          <m:t>𝑏</m:t>
                        </m:r>
                      </m:e>
                      <m:sub>
                        <m:r>
                          <a:rPr lang="ru-RU" i="1">
                            <a:effectLst/>
                            <a:latin typeface="Cambria Math" panose="02040503050406030204" pitchFamily="18" charset="0"/>
                            <a:ea typeface="Calibri" panose="020F0502020204030204" pitchFamily="34" charset="0"/>
                            <a:cs typeface="Times New Roman" panose="02020603050405020304" pitchFamily="18" charset="0"/>
                          </a:rPr>
                          <m:t>корн</m:t>
                        </m:r>
                      </m:sub>
                    </m:sSub>
                    <m:r>
                      <a:rPr lang="ru-RU" i="1">
                        <a:effectLst/>
                        <a:latin typeface="Cambria Math" panose="02040503050406030204" pitchFamily="18" charset="0"/>
                        <a:ea typeface="Calibri" panose="020F0502020204030204" pitchFamily="34" charset="0"/>
                        <a:cs typeface="Times New Roman" panose="02020603050405020304" pitchFamily="18" charset="0"/>
                      </a:rPr>
                      <m:t> </m:t>
                    </m:r>
                  </m:oMath>
                </a14:m>
                <a:r>
                  <a:rPr lang="ru-RU" dirty="0">
                    <a:effectLst/>
                    <a:latin typeface="Times New Roman" panose="02020603050405020304" pitchFamily="18" charset="0"/>
                    <a:ea typeface="Times New Roman" panose="02020603050405020304" pitchFamily="18" charset="0"/>
                    <a:cs typeface="Times New Roman" panose="02020603050405020304" pitchFamily="18" charset="0"/>
                  </a:rPr>
                  <a:t>– хорда у корня крыла, </a:t>
                </a:r>
                <a14:m>
                  <m:oMath xmlns:m="http://schemas.openxmlformats.org/officeDocument/2006/math">
                    <m:sSub>
                      <m:sSubPr>
                        <m:ctrlPr>
                          <a:rPr lang="ru-RU"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effectLst/>
                            <a:latin typeface="Cambria Math" panose="02040503050406030204" pitchFamily="18" charset="0"/>
                            <a:ea typeface="Calibri" panose="020F0502020204030204" pitchFamily="34" charset="0"/>
                            <a:cs typeface="Times New Roman" panose="02020603050405020304" pitchFamily="18" charset="0"/>
                          </a:rPr>
                          <m:t>𝑏</m:t>
                        </m:r>
                      </m:e>
                      <m:sub>
                        <m:r>
                          <a:rPr lang="ru-RU" i="1">
                            <a:effectLst/>
                            <a:latin typeface="Cambria Math" panose="02040503050406030204" pitchFamily="18" charset="0"/>
                            <a:ea typeface="Calibri" panose="020F0502020204030204" pitchFamily="34" charset="0"/>
                            <a:cs typeface="Times New Roman" panose="02020603050405020304" pitchFamily="18" charset="0"/>
                          </a:rPr>
                          <m:t>конец</m:t>
                        </m:r>
                      </m:sub>
                    </m:sSub>
                  </m:oMath>
                </a14:m>
                <a:r>
                  <a:rPr lang="ru-RU" dirty="0">
                    <a:effectLst/>
                    <a:latin typeface="Times New Roman" panose="02020603050405020304" pitchFamily="18" charset="0"/>
                    <a:ea typeface="Times New Roman" panose="02020603050405020304" pitchFamily="18" charset="0"/>
                    <a:cs typeface="Times New Roman" panose="02020603050405020304" pitchFamily="18" charset="0"/>
                  </a:rPr>
                  <a:t>-хорда на </a:t>
                </a:r>
                <a:r>
                  <a:rPr lang="ru-RU" dirty="0" err="1">
                    <a:effectLst/>
                    <a:latin typeface="Times New Roman" panose="02020603050405020304" pitchFamily="18" charset="0"/>
                    <a:ea typeface="Times New Roman" panose="02020603050405020304" pitchFamily="18" charset="0"/>
                    <a:cs typeface="Times New Roman" panose="02020603050405020304" pitchFamily="18" charset="0"/>
                  </a:rPr>
                  <a:t>законцовке</a:t>
                </a:r>
                <a:r>
                  <a:rPr lang="ru-RU" dirty="0">
                    <a:effectLst/>
                    <a:latin typeface="Times New Roman" panose="02020603050405020304" pitchFamily="18" charset="0"/>
                    <a:ea typeface="Times New Roman" panose="02020603050405020304" pitchFamily="18" charset="0"/>
                    <a:cs typeface="Times New Roman" panose="02020603050405020304" pitchFamily="18" charset="0"/>
                  </a:rPr>
                  <a:t> крыла.</a:t>
                </a:r>
                <a:endParaRPr lang="ru-RU"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ru-RU" dirty="0">
                    <a:effectLst/>
                    <a:latin typeface="Times New Roman" panose="02020603050405020304" pitchFamily="18" charset="0"/>
                    <a:ea typeface="Calibri" panose="020F0502020204030204" pitchFamily="34" charset="0"/>
                    <a:cs typeface="Times New Roman" panose="02020603050405020304" pitchFamily="18" charset="0"/>
                  </a:rPr>
                  <a:t>Удлинение крыла:</a:t>
                </a:r>
                <a:endParaRPr lang="ru-RU"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ru-RU" i="1">
                          <a:effectLst/>
                          <a:latin typeface="Cambria Math" panose="02040503050406030204" pitchFamily="18" charset="0"/>
                          <a:ea typeface="Calibri" panose="020F0502020204030204" pitchFamily="34" charset="0"/>
                          <a:cs typeface="Times New Roman" panose="02020603050405020304" pitchFamily="18" charset="0"/>
                        </a:rPr>
                        <m:t>𝜆</m:t>
                      </m:r>
                      <m:r>
                        <a:rPr lang="ru-RU" i="1">
                          <a:effectLst/>
                          <a:latin typeface="Cambria Math" panose="02040503050406030204" pitchFamily="18" charset="0"/>
                          <a:ea typeface="Calibri" panose="020F0502020204030204" pitchFamily="34" charset="0"/>
                          <a:cs typeface="Times New Roman" panose="02020603050405020304" pitchFamily="18" charset="0"/>
                        </a:rPr>
                        <m:t>=</m:t>
                      </m:r>
                      <m:f>
                        <m:fPr>
                          <m:ctrlPr>
                            <a:rPr lang="ru-RU" i="1">
                              <a:effectLst/>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ru-RU"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i="1">
                                  <a:effectLst/>
                                  <a:latin typeface="Cambria Math" panose="02040503050406030204" pitchFamily="18" charset="0"/>
                                  <a:ea typeface="Calibri" panose="020F0502020204030204" pitchFamily="34" charset="0"/>
                                  <a:cs typeface="Times New Roman" panose="02020603050405020304" pitchFamily="18" charset="0"/>
                                </a:rPr>
                                <m:t>𝑙</m:t>
                              </m:r>
                            </m:e>
                            <m:sup>
                              <m:r>
                                <a:rPr lang="ru-RU" i="1">
                                  <a:effectLst/>
                                  <a:latin typeface="Cambria Math" panose="02040503050406030204" pitchFamily="18" charset="0"/>
                                  <a:ea typeface="Calibri" panose="020F0502020204030204" pitchFamily="34" charset="0"/>
                                  <a:cs typeface="Times New Roman" panose="02020603050405020304" pitchFamily="18" charset="0"/>
                                </a:rPr>
                                <m:t>2</m:t>
                              </m:r>
                            </m:sup>
                          </m:sSup>
                        </m:num>
                        <m:den>
                          <m:r>
                            <a:rPr lang="en-US" i="1">
                              <a:effectLst/>
                              <a:latin typeface="Cambria Math" panose="02040503050406030204" pitchFamily="18" charset="0"/>
                              <a:ea typeface="Calibri" panose="020F0502020204030204" pitchFamily="34" charset="0"/>
                              <a:cs typeface="Times New Roman" panose="02020603050405020304" pitchFamily="18" charset="0"/>
                            </a:rPr>
                            <m:t>𝑆</m:t>
                          </m:r>
                        </m:den>
                      </m:f>
                      <m:r>
                        <a:rPr lang="ru-RU" i="1">
                          <a:effectLst/>
                          <a:latin typeface="Cambria Math" panose="02040503050406030204" pitchFamily="18" charset="0"/>
                          <a:ea typeface="Calibri" panose="020F0502020204030204" pitchFamily="34" charset="0"/>
                          <a:cs typeface="Times New Roman" panose="02020603050405020304" pitchFamily="18" charset="0"/>
                        </a:rPr>
                        <m:t>=</m:t>
                      </m:r>
                      <m:f>
                        <m:fPr>
                          <m:ctrlPr>
                            <a:rPr lang="ru-RU" i="1">
                              <a:effectLst/>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ru-RU" i="1">
                                  <a:effectLst/>
                                  <a:latin typeface="Cambria Math" panose="02040503050406030204" pitchFamily="18" charset="0"/>
                                  <a:ea typeface="Calibri" panose="020F0502020204030204" pitchFamily="34" charset="0"/>
                                  <a:cs typeface="Times New Roman" panose="02020603050405020304" pitchFamily="18" charset="0"/>
                                </a:rPr>
                              </m:ctrlPr>
                            </m:sSupPr>
                            <m:e>
                              <m:r>
                                <a:rPr lang="ru-RU" i="1">
                                  <a:effectLst/>
                                  <a:latin typeface="Cambria Math" panose="02040503050406030204" pitchFamily="18" charset="0"/>
                                  <a:ea typeface="Calibri" panose="020F0502020204030204" pitchFamily="34" charset="0"/>
                                  <a:cs typeface="Times New Roman" panose="02020603050405020304" pitchFamily="18" charset="0"/>
                                </a:rPr>
                                <m:t>16.95</m:t>
                              </m:r>
                            </m:e>
                            <m:sup>
                              <m:r>
                                <a:rPr lang="ru-RU" i="1">
                                  <a:effectLst/>
                                  <a:latin typeface="Cambria Math" panose="02040503050406030204" pitchFamily="18" charset="0"/>
                                  <a:ea typeface="Calibri" panose="020F0502020204030204" pitchFamily="34" charset="0"/>
                                  <a:cs typeface="Times New Roman" panose="02020603050405020304" pitchFamily="18" charset="0"/>
                                </a:rPr>
                                <m:t>2</m:t>
                              </m:r>
                            </m:sup>
                          </m:sSup>
                        </m:num>
                        <m:den>
                          <m:r>
                            <a:rPr lang="ru-RU" i="1">
                              <a:effectLst/>
                              <a:latin typeface="Cambria Math" panose="02040503050406030204" pitchFamily="18" charset="0"/>
                              <a:ea typeface="Calibri" panose="020F0502020204030204" pitchFamily="34" charset="0"/>
                              <a:cs typeface="Times New Roman" panose="02020603050405020304" pitchFamily="18" charset="0"/>
                            </a:rPr>
                            <m:t>141.1</m:t>
                          </m:r>
                        </m:den>
                      </m:f>
                      <m:r>
                        <a:rPr lang="ru-RU" i="1">
                          <a:effectLst/>
                          <a:latin typeface="Cambria Math" panose="02040503050406030204" pitchFamily="18" charset="0"/>
                          <a:ea typeface="Calibri" panose="020F0502020204030204" pitchFamily="34" charset="0"/>
                          <a:cs typeface="Times New Roman" panose="02020603050405020304" pitchFamily="18" charset="0"/>
                        </a:rPr>
                        <m:t>≈2.04,</m:t>
                      </m:r>
                    </m:oMath>
                  </m:oMathPara>
                </a14:m>
                <a:endParaRPr lang="ru-RU"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ru-RU" dirty="0">
                    <a:effectLst/>
                    <a:latin typeface="Times New Roman" panose="02020603050405020304" pitchFamily="18" charset="0"/>
                    <a:ea typeface="Times New Roman" panose="02020603050405020304" pitchFamily="18" charset="0"/>
                    <a:cs typeface="Times New Roman" panose="02020603050405020304" pitchFamily="18" charset="0"/>
                  </a:rPr>
                  <a:t>где </a:t>
                </a:r>
                <a14:m>
                  <m:oMath xmlns:m="http://schemas.openxmlformats.org/officeDocument/2006/math">
                    <m:r>
                      <a:rPr lang="en-US" i="1">
                        <a:effectLst/>
                        <a:latin typeface="Cambria Math" panose="02040503050406030204" pitchFamily="18" charset="0"/>
                        <a:ea typeface="Calibri" panose="020F0502020204030204" pitchFamily="34" charset="0"/>
                        <a:cs typeface="Times New Roman" panose="02020603050405020304" pitchFamily="18" charset="0"/>
                      </a:rPr>
                      <m:t>𝑙</m:t>
                    </m:r>
                    <m:r>
                      <a:rPr lang="en-US" i="1">
                        <a:effectLst/>
                        <a:latin typeface="Cambria Math" panose="02040503050406030204" pitchFamily="18" charset="0"/>
                        <a:ea typeface="Calibri" panose="020F0502020204030204" pitchFamily="34" charset="0"/>
                        <a:cs typeface="Times New Roman" panose="02020603050405020304" pitchFamily="18" charset="0"/>
                      </a:rPr>
                      <m:t> </m:t>
                    </m:r>
                  </m:oMath>
                </a14:m>
                <a:r>
                  <a:rPr lang="ru-RU" dirty="0">
                    <a:effectLst/>
                    <a:latin typeface="Times New Roman" panose="02020603050405020304" pitchFamily="18" charset="0"/>
                    <a:ea typeface="Times New Roman" panose="02020603050405020304" pitchFamily="18" charset="0"/>
                    <a:cs typeface="Times New Roman" panose="02020603050405020304" pitchFamily="18" charset="0"/>
                  </a:rPr>
                  <a:t>– размах крыла, </a:t>
                </a:r>
                <a14:m>
                  <m:oMath xmlns:m="http://schemas.openxmlformats.org/officeDocument/2006/math">
                    <m:r>
                      <a:rPr lang="en-US" i="1">
                        <a:effectLst/>
                        <a:latin typeface="Cambria Math" panose="02040503050406030204" pitchFamily="18" charset="0"/>
                        <a:ea typeface="Calibri" panose="020F0502020204030204" pitchFamily="34" charset="0"/>
                        <a:cs typeface="Times New Roman" panose="02020603050405020304" pitchFamily="18" charset="0"/>
                      </a:rPr>
                      <m:t>𝑆</m:t>
                    </m:r>
                  </m:oMath>
                </a14:m>
                <a:r>
                  <a:rPr lang="ru-RU" dirty="0">
                    <a:effectLst/>
                    <a:latin typeface="Times New Roman" panose="02020603050405020304" pitchFamily="18" charset="0"/>
                    <a:ea typeface="Times New Roman" panose="02020603050405020304" pitchFamily="18" charset="0"/>
                    <a:cs typeface="Times New Roman" panose="02020603050405020304" pitchFamily="18" charset="0"/>
                  </a:rPr>
                  <a:t>- площадь крыла.</a:t>
                </a:r>
                <a:endParaRPr lang="ru-RU"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ru-RU" dirty="0">
                    <a:effectLst/>
                    <a:latin typeface="Times New Roman" panose="02020603050405020304" pitchFamily="18" charset="0"/>
                    <a:ea typeface="Times New Roman" panose="02020603050405020304" pitchFamily="18" charset="0"/>
                    <a:cs typeface="Times New Roman" panose="02020603050405020304" pitchFamily="18" charset="0"/>
                  </a:rPr>
                  <a:t>Расчёт тяги двигателя:</a:t>
                </a:r>
                <a:endParaRPr lang="ru-RU"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ru-RU" i="1">
                          <a:effectLst/>
                          <a:latin typeface="Cambria Math" panose="02040503050406030204" pitchFamily="18" charset="0"/>
                          <a:ea typeface="Times New Roman" panose="02020603050405020304" pitchFamily="18" charset="0"/>
                          <a:cs typeface="Times New Roman" panose="02020603050405020304" pitchFamily="18" charset="0"/>
                        </a:rPr>
                        <m:t>𝑇</m:t>
                      </m:r>
                      <m:r>
                        <a:rPr lang="ru-RU" i="1">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ru-RU"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ru-RU" i="1">
                              <a:effectLst/>
                              <a:latin typeface="Cambria Math" panose="02040503050406030204" pitchFamily="18" charset="0"/>
                              <a:ea typeface="Times New Roman" panose="02020603050405020304" pitchFamily="18" charset="0"/>
                              <a:cs typeface="Times New Roman" panose="02020603050405020304" pitchFamily="18" charset="0"/>
                            </a:rPr>
                            <m:t>𝑚</m:t>
                          </m:r>
                        </m:num>
                        <m:den>
                          <m:r>
                            <a:rPr lang="ru-RU" i="1">
                              <a:effectLst/>
                              <a:latin typeface="Cambria Math" panose="02040503050406030204" pitchFamily="18" charset="0"/>
                              <a:ea typeface="Times New Roman" panose="02020603050405020304" pitchFamily="18" charset="0"/>
                              <a:cs typeface="Times New Roman" panose="02020603050405020304" pitchFamily="18" charset="0"/>
                            </a:rPr>
                            <m:t>𝐾</m:t>
                          </m:r>
                        </m:den>
                      </m:f>
                      <m:r>
                        <a:rPr lang="ru-RU"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ru-RU"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ru-RU" i="1">
                              <a:effectLst/>
                              <a:latin typeface="Cambria Math" panose="02040503050406030204" pitchFamily="18" charset="0"/>
                              <a:ea typeface="Times New Roman" panose="02020603050405020304" pitchFamily="18" charset="0"/>
                              <a:cs typeface="Times New Roman" panose="02020603050405020304" pitchFamily="18" charset="0"/>
                            </a:rPr>
                            <m:t>77000</m:t>
                          </m:r>
                        </m:num>
                        <m:den>
                          <m:r>
                            <a:rPr lang="ru-RU" i="1">
                              <a:effectLst/>
                              <a:latin typeface="Cambria Math" panose="02040503050406030204" pitchFamily="18" charset="0"/>
                              <a:ea typeface="Times New Roman" panose="02020603050405020304" pitchFamily="18" charset="0"/>
                              <a:cs typeface="Times New Roman" panose="02020603050405020304" pitchFamily="18" charset="0"/>
                            </a:rPr>
                            <m:t>15</m:t>
                          </m:r>
                        </m:den>
                      </m:f>
                      <m:r>
                        <a:rPr lang="ru-RU" i="1">
                          <a:effectLst/>
                          <a:latin typeface="Cambria Math" panose="02040503050406030204" pitchFamily="18" charset="0"/>
                          <a:ea typeface="Times New Roman" panose="02020603050405020304" pitchFamily="18" charset="0"/>
                          <a:cs typeface="Times New Roman" panose="02020603050405020304" pitchFamily="18" charset="0"/>
                        </a:rPr>
                        <m:t>≈50.3кН</m:t>
                      </m:r>
                    </m:oMath>
                  </m:oMathPara>
                </a14:m>
                <a:endParaRPr lang="ru-RU"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 name="Прямоугольник 1"/>
              <p:cNvSpPr>
                <a:spLocks noRot="1" noChangeAspect="1" noMove="1" noResize="1" noEditPoints="1" noAdjustHandles="1" noChangeArrowheads="1" noChangeShapeType="1" noTextEdit="1"/>
              </p:cNvSpPr>
              <p:nvPr/>
            </p:nvSpPr>
            <p:spPr>
              <a:xfrm>
                <a:off x="323528" y="2060848"/>
                <a:ext cx="8414402" cy="4224105"/>
              </a:xfrm>
              <a:prstGeom prst="rect">
                <a:avLst/>
              </a:prstGeom>
              <a:blipFill rotWithShape="0">
                <a:blip r:embed="rId4"/>
                <a:stretch>
                  <a:fillRect l="-580" t="-866"/>
                </a:stretch>
              </a:blipFill>
            </p:spPr>
            <p:txBody>
              <a:bodyPr/>
              <a:lstStyle/>
              <a:p>
                <a:r>
                  <a:rPr lang="ru-RU">
                    <a:noFill/>
                  </a:rPr>
                  <a:t> </a:t>
                </a:r>
              </a:p>
            </p:txBody>
          </p:sp>
        </mc:Fallback>
      </mc:AlternateContent>
    </p:spTree>
    <p:extLst>
      <p:ext uri="{BB962C8B-B14F-4D97-AF65-F5344CB8AC3E}">
        <p14:creationId xmlns:p14="http://schemas.microsoft.com/office/powerpoint/2010/main" val="1112120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 xmlns:a16="http://schemas.microsoft.com/office/drawing/2014/main" id="{6A08DC50-3D74-C55B-9E9E-C0B49093260F}"/>
              </a:ext>
            </a:extLst>
          </p:cNvPr>
          <p:cNvSpPr>
            <a:spLocks noGrp="1"/>
          </p:cNvSpPr>
          <p:nvPr>
            <p:ph type="title"/>
          </p:nvPr>
        </p:nvSpPr>
        <p:spPr>
          <a:xfrm>
            <a:off x="457200" y="274638"/>
            <a:ext cx="8229600" cy="634082"/>
          </a:xfrm>
        </p:spPr>
        <p:txBody>
          <a:bodyPr>
            <a:normAutofit/>
          </a:bodyPr>
          <a:lstStyle/>
          <a:p>
            <a:r>
              <a:rPr lang="ru-RU" sz="2800" b="1" dirty="0">
                <a:effectLst>
                  <a:outerShdw blurRad="38100" dist="38100" dir="2700000" algn="tl">
                    <a:srgbClr val="000000">
                      <a:alpha val="43137"/>
                    </a:srgbClr>
                  </a:outerShdw>
                </a:effectLst>
              </a:rPr>
              <a:t>Литература</a:t>
            </a:r>
          </a:p>
        </p:txBody>
      </p:sp>
      <p:sp>
        <p:nvSpPr>
          <p:cNvPr id="6" name="TextBox 5">
            <a:extLst>
              <a:ext uri="{FF2B5EF4-FFF2-40B4-BE49-F238E27FC236}">
                <a16:creationId xmlns="" xmlns:a16="http://schemas.microsoft.com/office/drawing/2014/main" id="{446AB62C-9482-67E1-9B0F-4095AF765E7D}"/>
              </a:ext>
            </a:extLst>
          </p:cNvPr>
          <p:cNvSpPr txBox="1"/>
          <p:nvPr/>
        </p:nvSpPr>
        <p:spPr>
          <a:xfrm>
            <a:off x="453776" y="1484784"/>
            <a:ext cx="8582720" cy="1754326"/>
          </a:xfrm>
          <a:prstGeom prst="rect">
            <a:avLst/>
          </a:prstGeom>
          <a:noFill/>
        </p:spPr>
        <p:txBody>
          <a:bodyPr wrap="square">
            <a:spAutoFit/>
          </a:bodyPr>
          <a:lstStyle/>
          <a:p>
            <a:r>
              <a:rPr lang="ru-RU" sz="1800" b="1" dirty="0" smtClean="0">
                <a:effectLst>
                  <a:outerShdw blurRad="38100" dist="38100" dir="2700000" algn="tl">
                    <a:srgbClr val="000000">
                      <a:alpha val="43137"/>
                    </a:srgbClr>
                  </a:outerShdw>
                </a:effectLst>
              </a:rPr>
              <a:t>1.</a:t>
            </a:r>
            <a:r>
              <a:rPr lang="en-US" b="1" dirty="0" smtClean="0">
                <a:effectLst>
                  <a:outerShdw blurRad="38100" dist="38100" dir="2700000" algn="tl">
                    <a:srgbClr val="000000">
                      <a:alpha val="43137"/>
                    </a:srgbClr>
                  </a:outerShdw>
                </a:effectLst>
              </a:rPr>
              <a:t> https</a:t>
            </a:r>
            <a:r>
              <a:rPr lang="en-US" b="1" dirty="0">
                <a:effectLst>
                  <a:outerShdw blurRad="38100" dist="38100" dir="2700000" algn="tl">
                    <a:srgbClr val="000000">
                      <a:alpha val="43137"/>
                    </a:srgbClr>
                  </a:outerShdw>
                </a:effectLst>
              </a:rPr>
              <a:t>://ru.wikipedia.org/wiki/Lockheed_SR-71_Blackbird</a:t>
            </a:r>
            <a:endParaRPr lang="ru-RU" sz="1800" b="1" dirty="0">
              <a:effectLst>
                <a:outerShdw blurRad="38100" dist="38100" dir="2700000" algn="tl">
                  <a:srgbClr val="000000">
                    <a:alpha val="43137"/>
                  </a:srgbClr>
                </a:outerShdw>
              </a:effectLst>
            </a:endParaRPr>
          </a:p>
          <a:p>
            <a:r>
              <a:rPr lang="ru-RU" b="1" dirty="0">
                <a:effectLst>
                  <a:outerShdw blurRad="38100" dist="38100" dir="2700000" algn="tl">
                    <a:srgbClr val="000000">
                      <a:alpha val="43137"/>
                    </a:srgbClr>
                  </a:outerShdw>
                </a:effectLst>
              </a:rPr>
              <a:t>2</a:t>
            </a:r>
            <a:r>
              <a:rPr lang="ru-RU" b="1" dirty="0" smtClean="0">
                <a:effectLst>
                  <a:outerShdw blurRad="38100" dist="38100" dir="2700000" algn="tl">
                    <a:srgbClr val="000000">
                      <a:alpha val="43137"/>
                    </a:srgbClr>
                  </a:outerShdw>
                </a:effectLst>
              </a:rPr>
              <a:t>.</a:t>
            </a:r>
            <a:r>
              <a:rPr lang="en-US" b="1" dirty="0">
                <a:effectLst>
                  <a:outerShdw blurRad="38100" dist="38100" dir="2700000" algn="tl">
                    <a:srgbClr val="000000">
                      <a:alpha val="43137"/>
                    </a:srgbClr>
                  </a:outerShdw>
                </a:effectLst>
              </a:rPr>
              <a:t> </a:t>
            </a:r>
            <a:r>
              <a:rPr lang="en-US" b="1" dirty="0" smtClean="0">
                <a:effectLst>
                  <a:outerShdw blurRad="38100" dist="38100" dir="2700000" algn="tl">
                    <a:srgbClr val="000000">
                      <a:alpha val="43137"/>
                    </a:srgbClr>
                  </a:outerShdw>
                </a:effectLst>
              </a:rPr>
              <a:t>"SR-71</a:t>
            </a:r>
            <a:r>
              <a:rPr lang="en-US" b="1" dirty="0">
                <a:effectLst>
                  <a:outerShdw blurRad="38100" dist="38100" dir="2700000" algn="tl">
                    <a:srgbClr val="000000">
                      <a:alpha val="43137"/>
                    </a:srgbClr>
                  </a:outerShdw>
                </a:effectLst>
              </a:rPr>
              <a:t>: The Complete Illustrated History of The Blackbird, The World's Highest, Fastest Plane" - Richard H. </a:t>
            </a:r>
            <a:r>
              <a:rPr lang="en-US" b="1" dirty="0" smtClean="0">
                <a:effectLst>
                  <a:outerShdw blurRad="38100" dist="38100" dir="2700000" algn="tl">
                    <a:srgbClr val="000000">
                      <a:alpha val="43137"/>
                    </a:srgbClr>
                  </a:outerShdw>
                </a:effectLst>
              </a:rPr>
              <a:t>Graham</a:t>
            </a:r>
          </a:p>
          <a:p>
            <a:r>
              <a:rPr lang="en-US" b="1" dirty="0" smtClean="0">
                <a:effectLst>
                  <a:outerShdw blurRad="38100" dist="38100" dir="2700000" algn="tl">
                    <a:srgbClr val="000000">
                      <a:alpha val="43137"/>
                    </a:srgbClr>
                  </a:outerShdw>
                </a:effectLst>
              </a:rPr>
              <a:t>3. "Lockheed </a:t>
            </a:r>
            <a:r>
              <a:rPr lang="en-US" b="1" dirty="0">
                <a:effectLst>
                  <a:outerShdw blurRad="38100" dist="38100" dir="2700000" algn="tl">
                    <a:srgbClr val="000000">
                      <a:alpha val="43137"/>
                    </a:srgbClr>
                  </a:outerShdw>
                </a:effectLst>
              </a:rPr>
              <a:t>SR-71 Blackbird: 1964 onwards (all marks) (Owners' Workshop Manual)" - Steve Davies and Paul F. </a:t>
            </a:r>
            <a:r>
              <a:rPr lang="en-US" b="1" dirty="0" err="1" smtClean="0">
                <a:effectLst>
                  <a:outerShdw blurRad="38100" dist="38100" dir="2700000" algn="tl">
                    <a:srgbClr val="000000">
                      <a:alpha val="43137"/>
                    </a:srgbClr>
                  </a:outerShdw>
                </a:effectLst>
              </a:rPr>
              <a:t>Crickmore</a:t>
            </a:r>
            <a:endParaRPr lang="ru-RU" b="1" dirty="0">
              <a:effectLst>
                <a:outerShdw blurRad="38100" dist="38100" dir="2700000" algn="tl">
                  <a:srgbClr val="000000">
                    <a:alpha val="43137"/>
                  </a:srgbClr>
                </a:outerShdw>
              </a:effectLst>
            </a:endParaRPr>
          </a:p>
          <a:p>
            <a:r>
              <a:rPr lang="en-US" b="1" dirty="0">
                <a:effectLst>
                  <a:outerShdw blurRad="38100" dist="38100" dir="2700000" algn="tl">
                    <a:srgbClr val="000000">
                      <a:alpha val="43137"/>
                    </a:srgbClr>
                  </a:outerShdw>
                </a:effectLst>
              </a:rPr>
              <a:t>4. https://ntrs.nasa.gov/api/citations/20000064011/downloads/20000064011.pdf</a:t>
            </a:r>
            <a:endParaRPr lang="ru-RU"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487398842"/>
      </p:ext>
    </p:extLst>
  </p:cSld>
  <p:clrMapOvr>
    <a:masterClrMapping/>
  </p:clrMapOvr>
</p:sld>
</file>

<file path=ppt/theme/theme1.xml><?xml version="1.0" encoding="utf-8"?>
<a:theme xmlns:a="http://schemas.openxmlformats.org/drawingml/2006/main" name="Тема Office">
  <a:themeElements>
    <a:clrScheme name="Литейная">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484</TotalTime>
  <Words>882</Words>
  <Application>Microsoft Office PowerPoint</Application>
  <PresentationFormat>Экран (4:3)</PresentationFormat>
  <Paragraphs>88</Paragraphs>
  <Slides>10</Slides>
  <Notes>6</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10</vt:i4>
      </vt:variant>
    </vt:vector>
  </HeadingPairs>
  <TitlesOfParts>
    <vt:vector size="16" baseType="lpstr">
      <vt:lpstr>Arial</vt:lpstr>
      <vt:lpstr>Calibri</vt:lpstr>
      <vt:lpstr>Cambria Math</vt:lpstr>
      <vt:lpstr>Symbol</vt:lpstr>
      <vt:lpstr>Times New Roman</vt:lpstr>
      <vt:lpstr>Тема Office</vt:lpstr>
      <vt:lpstr>SR-71 «Blackbird»</vt:lpstr>
      <vt:lpstr>Назначение</vt:lpstr>
      <vt:lpstr>Презентация PowerPoint</vt:lpstr>
      <vt:lpstr>Презентация PowerPoint</vt:lpstr>
      <vt:lpstr>Тактико-технические характеристики</vt:lpstr>
      <vt:lpstr>Предприятие-разработчик</vt:lpstr>
      <vt:lpstr>Зарубежные аналоги</vt:lpstr>
      <vt:lpstr>Спецчасть</vt:lpstr>
      <vt:lpstr>Презентация PowerPoint</vt:lpstr>
      <vt:lpstr>Литература</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Ту-334</dc:title>
  <cp:lastModifiedBy>Учетная запись Майкрософт</cp:lastModifiedBy>
  <cp:revision>66</cp:revision>
  <dcterms:created xsi:type="dcterms:W3CDTF">2020-10-29T15:26:18Z</dcterms:created>
  <dcterms:modified xsi:type="dcterms:W3CDTF">2024-12-22T20:15:35Z</dcterms:modified>
</cp:coreProperties>
</file>