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3" r:id="rId6"/>
    <p:sldId id="261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jxY1kKQHRa/fGIvtOYt6AlBPyS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4" Type="http://schemas.openxmlformats.org/officeDocument/2006/relationships/slide" Target="slides/slide3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67897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90040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93980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7712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13178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76300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0124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articles/796899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817503" y="1098987"/>
            <a:ext cx="11202900" cy="33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None/>
            </a:pPr>
            <a:r>
              <a:rPr lang="ru-RU" sz="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ru-RU" sz="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5059175" y="4688375"/>
            <a:ext cx="6335700" cy="19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/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800" b="1" dirty="0"/>
              <a:t>ФИО</a:t>
            </a:r>
            <a:r>
              <a:rPr lang="ru-RU" sz="1800" dirty="0"/>
              <a:t>: </a:t>
            </a:r>
            <a:r>
              <a:rPr lang="ru-RU" sz="1800" dirty="0" err="1" smtClean="0"/>
              <a:t>Орусский</a:t>
            </a:r>
            <a:r>
              <a:rPr lang="ru-RU" sz="1800" dirty="0" smtClean="0"/>
              <a:t> Вячеслав Русланович</a:t>
            </a:r>
            <a:endParaRPr sz="1800" dirty="0"/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800" b="1" dirty="0"/>
              <a:t>Группа</a:t>
            </a:r>
            <a:r>
              <a:rPr lang="ru-RU" sz="1800" dirty="0"/>
              <a:t>: </a:t>
            </a:r>
            <a:r>
              <a:rPr lang="ru-RU" sz="1800" dirty="0" smtClean="0"/>
              <a:t>М8О-406Б-21</a:t>
            </a:r>
            <a:endParaRPr sz="1800" dirty="0"/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800" b="1" dirty="0"/>
              <a:t>Руководитель </a:t>
            </a:r>
            <a:r>
              <a:rPr lang="ru-RU" sz="1800" b="1" dirty="0" smtClean="0"/>
              <a:t>проекта</a:t>
            </a:r>
            <a:r>
              <a:rPr lang="ru-RU" sz="1800" dirty="0" smtClean="0"/>
              <a:t>: Мазаев Артемий Сергеевич</a:t>
            </a:r>
            <a:endParaRPr dirty="0"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600" y="480475"/>
            <a:ext cx="1693323" cy="16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2422775" y="480475"/>
            <a:ext cx="9405000" cy="14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Московский авиационный институт (национальный исследовательский институт)</a:t>
            </a: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662900" y="2122425"/>
            <a:ext cx="9732000" cy="16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ru-RU" sz="25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Выпускная квалификационная работа на тему:</a:t>
            </a:r>
            <a:endParaRPr sz="25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>
              <a:buSzPts val="2500"/>
            </a:pPr>
            <a:r>
              <a:rPr lang="ru-RU" sz="2500" b="0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ru-RU" sz="2400" b="1" dirty="0" smtClean="0"/>
              <a:t>СНГ ориентированный </a:t>
            </a:r>
            <a:r>
              <a:rPr lang="ru-RU" sz="2400" b="1" dirty="0"/>
              <a:t>аналог приложения для заметок </a:t>
            </a:r>
            <a:r>
              <a:rPr lang="ru-RU" sz="2400" b="1" dirty="0" err="1"/>
              <a:t>Obsidian</a:t>
            </a:r>
            <a:r>
              <a:rPr lang="en-US" sz="2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25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4462750" y="6234350"/>
            <a:ext cx="2802000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Москва - 202</a:t>
            </a:r>
            <a:r>
              <a:rPr lang="ru-RU"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>
            <a:spLocks noGrp="1"/>
          </p:cNvSpPr>
          <p:nvPr>
            <p:ph type="title"/>
          </p:nvPr>
        </p:nvSpPr>
        <p:spPr>
          <a:xfrm>
            <a:off x="838200" y="43630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ru-RU" b="1">
                <a:solidFill>
                  <a:schemeClr val="lt1"/>
                </a:solidFill>
              </a:rPr>
              <a:t>Цели и задачи работы</a:t>
            </a:r>
            <a:endParaRPr/>
          </a:p>
        </p:txBody>
      </p:sp>
      <p:sp>
        <p:nvSpPr>
          <p:cNvPr id="95" name="Google Shape;95;p2"/>
          <p:cNvSpPr txBox="1">
            <a:spLocks noGrp="1"/>
          </p:cNvSpPr>
          <p:nvPr>
            <p:ph type="body" idx="1"/>
          </p:nvPr>
        </p:nvSpPr>
        <p:spPr>
          <a:xfrm>
            <a:off x="1260450" y="2421550"/>
            <a:ext cx="96711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dirty="0"/>
              <a:t>Изучить пользовательский опыт СНГ в приложениях для заметок и выделить основные запросы</a:t>
            </a:r>
          </a:p>
          <a:p>
            <a:r>
              <a:rPr lang="ru-RU" dirty="0"/>
              <a:t>Реализовать базовую основу для приложения с заметками</a:t>
            </a:r>
          </a:p>
          <a:p>
            <a:r>
              <a:rPr lang="ru-RU" dirty="0"/>
              <a:t>Создать различные интеграции со сторонними сервисами (облачные хранилища, поддержка собственных хранилищ, взаимодействие с умным домом и </a:t>
            </a:r>
            <a:r>
              <a:rPr lang="ru-RU" dirty="0" err="1"/>
              <a:t>тд</a:t>
            </a:r>
            <a:r>
              <a:rPr lang="ru-RU" dirty="0"/>
              <a:t>)</a:t>
            </a:r>
          </a:p>
          <a:p>
            <a:r>
              <a:rPr lang="ru-RU" dirty="0"/>
              <a:t>Интеграция в приложение различных вспомогательных инструментов под те или иные сферы (редактор кода, легковесный арт редактор и </a:t>
            </a:r>
            <a:r>
              <a:rPr lang="ru-RU" dirty="0" err="1"/>
              <a:t>тд</a:t>
            </a:r>
            <a:r>
              <a:rPr lang="ru-RU" dirty="0"/>
              <a:t>)</a:t>
            </a:r>
          </a:p>
        </p:txBody>
      </p:sp>
      <p:sp>
        <p:nvSpPr>
          <p:cNvPr id="96" name="Google Shape;96;p2"/>
          <p:cNvSpPr txBox="1"/>
          <p:nvPr/>
        </p:nvSpPr>
        <p:spPr>
          <a:xfrm>
            <a:off x="5886882" y="3036996"/>
            <a:ext cx="5218318" cy="414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315400" y="320125"/>
            <a:ext cx="10789800" cy="1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ru-RU" sz="4400" b="1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Цели и задачи проекта</a:t>
            </a:r>
            <a:endParaRPr sz="4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0675" y="339625"/>
            <a:ext cx="1693323" cy="165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589625" y="5571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b="1" dirty="0"/>
              <a:t>Образ результата</a:t>
            </a:r>
            <a:endParaRPr b="1" dirty="0"/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876300" y="2209775"/>
            <a:ext cx="10228925" cy="2423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sz="3200" dirty="0"/>
              <a:t>Результатом работы будет готовое для размещения и использования массовым пользователем приложение на C#, с помощью которого приложение будет поддерживать кросс-платформенную реализацию.</a:t>
            </a: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pic>
        <p:nvPicPr>
          <p:cNvPr id="112" name="Google Shape;11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0675" y="339625"/>
            <a:ext cx="1693323" cy="165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>
            <a:spLocks noGrp="1"/>
          </p:cNvSpPr>
          <p:nvPr>
            <p:ph type="body" idx="1"/>
          </p:nvPr>
        </p:nvSpPr>
        <p:spPr>
          <a:xfrm>
            <a:off x="708025" y="1660525"/>
            <a:ext cx="9295089" cy="2406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0" i="0" u="none" strike="noStrik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ru-RU" sz="2000" dirty="0"/>
              <a:t>C# - язык программирования</a:t>
            </a:r>
          </a:p>
          <a:p>
            <a:r>
              <a:rPr lang="ru-RU" sz="2000" dirty="0"/>
              <a:t>.</a:t>
            </a:r>
            <a:r>
              <a:rPr lang="ru-RU" sz="2000" dirty="0" err="1"/>
              <a:t>Net</a:t>
            </a:r>
            <a:r>
              <a:rPr lang="ru-RU" sz="2000" dirty="0"/>
              <a:t> - </a:t>
            </a:r>
            <a:r>
              <a:rPr lang="ru-RU" sz="2000" dirty="0" err="1"/>
              <a:t>фреймворк</a:t>
            </a:r>
            <a:r>
              <a:rPr lang="ru-RU" sz="2000" dirty="0"/>
              <a:t> для сетевого взаимодействия</a:t>
            </a:r>
          </a:p>
          <a:p>
            <a:r>
              <a:rPr lang="ru-RU" sz="2000" dirty="0" err="1"/>
              <a:t>PostgreSQL</a:t>
            </a:r>
            <a:r>
              <a:rPr lang="ru-RU" sz="2000" dirty="0"/>
              <a:t> - реляционная база данных для хранения данных внутри заметок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  <a:buSzPts val="2000"/>
              <a:buNone/>
            </a:pPr>
            <a:endParaRPr sz="20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18" name="Google Shape;118;p5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1295100" y="483663"/>
            <a:ext cx="9106200" cy="14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ru-RU" sz="4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Стек технологий</a:t>
            </a:r>
            <a:endParaRPr sz="4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325" y="239900"/>
            <a:ext cx="1452899" cy="1420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025" y="3903499"/>
            <a:ext cx="3201093" cy="180061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8154" y="4215375"/>
            <a:ext cx="1176862" cy="1176862"/>
          </a:xfrm>
          <a:prstGeom prst="rect">
            <a:avLst/>
          </a:prstGeom>
        </p:spPr>
      </p:pic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088" y="4059066"/>
            <a:ext cx="1577026" cy="148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>
            <a:spLocks noGrp="1"/>
          </p:cNvSpPr>
          <p:nvPr>
            <p:ph type="body" idx="1"/>
          </p:nvPr>
        </p:nvSpPr>
        <p:spPr>
          <a:xfrm>
            <a:off x="708025" y="1660524"/>
            <a:ext cx="9759678" cy="312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r>
              <a:rPr lang="ru-RU" sz="2000" dirty="0" smtClean="0"/>
              <a:t>- </a:t>
            </a:r>
            <a:r>
              <a:rPr lang="ru-RU" sz="2000" dirty="0"/>
              <a:t>Из аналогичных сервисов представлены </a:t>
            </a:r>
            <a:r>
              <a:rPr lang="ru-RU" sz="2000" dirty="0" err="1"/>
              <a:t>Google</a:t>
            </a:r>
            <a:r>
              <a:rPr lang="ru-RU" sz="2000" dirty="0"/>
              <a:t> </a:t>
            </a:r>
            <a:r>
              <a:rPr lang="ru-RU" sz="2000" dirty="0" err="1"/>
              <a:t>Keep</a:t>
            </a:r>
            <a:r>
              <a:rPr lang="ru-RU" sz="2000" dirty="0"/>
              <a:t>, </a:t>
            </a:r>
            <a:r>
              <a:rPr lang="ru-RU" sz="2000" dirty="0" err="1"/>
              <a:t>Microsoft</a:t>
            </a:r>
            <a:r>
              <a:rPr lang="ru-RU" sz="2000" dirty="0"/>
              <a:t> </a:t>
            </a:r>
            <a:r>
              <a:rPr lang="ru-RU" sz="2000" dirty="0" err="1"/>
              <a:t>OneNote</a:t>
            </a:r>
            <a:r>
              <a:rPr lang="ru-RU" sz="2000" dirty="0"/>
              <a:t>, </a:t>
            </a:r>
            <a:r>
              <a:rPr lang="ru-RU" sz="2000" dirty="0" err="1"/>
              <a:t>Evernote</a:t>
            </a:r>
            <a:r>
              <a:rPr lang="ru-RU" sz="2000" dirty="0"/>
              <a:t>, </a:t>
            </a:r>
            <a:r>
              <a:rPr lang="ru-RU" sz="2000" dirty="0" err="1"/>
              <a:t>Notion</a:t>
            </a:r>
            <a:r>
              <a:rPr lang="ru-RU" sz="2000" dirty="0"/>
              <a:t>. Но многие из них слабо подходят именно под СНГ пользователя, они завязаны внутри собственных экосистем, которые в рамках нашей страны являются не самыми стабильными и перспективными с точки зрения доступности. </a:t>
            </a:r>
          </a:p>
          <a:p>
            <a:endParaRPr lang="ru-RU" sz="2000" dirty="0"/>
          </a:p>
          <a:p>
            <a:r>
              <a:rPr lang="ru-RU" sz="2000" dirty="0"/>
              <a:t>- В последние годы рынок облачных хранилищ в РФ сильно сместился в сторону отечественных аналогов, что приводит к неактуальности многих зарубежных приложений, которые имеют связи в основном с зарубежными сервисами, поэтому есть необходимость создавать для пользователей новые приложения с таким функционалом</a:t>
            </a:r>
            <a:endParaRPr sz="20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18" name="Google Shape;118;p5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1295100" y="483663"/>
            <a:ext cx="9106200" cy="14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ru-RU" sz="4400" b="1" dirty="0" smtClean="0">
                <a:latin typeface="Calibri"/>
                <a:ea typeface="Calibri"/>
                <a:cs typeface="Calibri"/>
                <a:sym typeface="Calibri"/>
              </a:rPr>
              <a:t>Анализ, сравнение аналогов</a:t>
            </a:r>
            <a:endParaRPr sz="4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325" y="239900"/>
            <a:ext cx="1452899" cy="14206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4953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>
            <a:spLocks noGrp="1"/>
          </p:cNvSpPr>
          <p:nvPr>
            <p:ph type="title"/>
          </p:nvPr>
        </p:nvSpPr>
        <p:spPr>
          <a:xfrm>
            <a:off x="589625" y="3591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b="1"/>
              <a:t>Список литературы</a:t>
            </a:r>
            <a:endParaRPr b="1"/>
          </a:p>
        </p:txBody>
      </p:sp>
      <p:sp>
        <p:nvSpPr>
          <p:cNvPr id="130" name="Google Shape;130;p6"/>
          <p:cNvSpPr txBox="1">
            <a:spLocks noGrp="1"/>
          </p:cNvSpPr>
          <p:nvPr>
            <p:ph type="body" idx="1"/>
          </p:nvPr>
        </p:nvSpPr>
        <p:spPr>
          <a:xfrm>
            <a:off x="813400" y="1958350"/>
            <a:ext cx="10664700" cy="51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355600">
              <a:lnSpc>
                <a:spcPct val="120000"/>
              </a:lnSpc>
              <a:spcBef>
                <a:spcPts val="0"/>
              </a:spcBef>
              <a:buSzPts val="2000"/>
              <a:buFont typeface="Calibri"/>
              <a:buAutoNum type="arabicPeriod"/>
            </a:pPr>
            <a:r>
              <a:rPr lang="en-US" sz="2000" dirty="0" err="1" smtClean="0">
                <a:highlight>
                  <a:srgbClr val="FFFFFF"/>
                </a:highlight>
              </a:rPr>
              <a:t>.Net</a:t>
            </a:r>
            <a:r>
              <a:rPr lang="en-US" sz="2000" dirty="0">
                <a:highlight>
                  <a:srgbClr val="FFFFFF"/>
                </a:highlight>
              </a:rPr>
              <a:t> Docs, URL: https://dotnet.microsoft.com/ru-ru</a:t>
            </a:r>
            <a:r>
              <a:rPr lang="en-US" sz="2000" dirty="0" smtClean="0">
                <a:highlight>
                  <a:srgbClr val="FFFFFF"/>
                </a:highlight>
              </a:rPr>
              <a:t>/</a:t>
            </a:r>
          </a:p>
          <a:p>
            <a:pPr lvl="0" indent="-355600">
              <a:lnSpc>
                <a:spcPct val="120000"/>
              </a:lnSpc>
              <a:spcBef>
                <a:spcPts val="0"/>
              </a:spcBef>
              <a:buSzPts val="2000"/>
              <a:buFont typeface="Calibri"/>
              <a:buAutoNum type="arabicPeriod"/>
            </a:pPr>
            <a:r>
              <a:rPr lang="en-US" sz="2000" dirty="0" smtClean="0">
                <a:highlight>
                  <a:srgbClr val="FFFFFF"/>
                </a:highlight>
              </a:rPr>
              <a:t>C</a:t>
            </a:r>
            <a:r>
              <a:rPr lang="ru-RU" sz="2000" dirty="0" err="1" smtClean="0">
                <a:highlight>
                  <a:srgbClr val="FFFFFF"/>
                </a:highlight>
              </a:rPr>
              <a:t>татья</a:t>
            </a:r>
            <a:r>
              <a:rPr lang="ru-RU" sz="2000" dirty="0" smtClean="0">
                <a:highlight>
                  <a:srgbClr val="FFFFFF"/>
                </a:highlight>
              </a:rPr>
              <a:t> </a:t>
            </a:r>
            <a:r>
              <a:rPr lang="en-US" sz="2000" dirty="0" err="1" smtClean="0">
                <a:highlight>
                  <a:srgbClr val="FFFFFF"/>
                </a:highlight>
              </a:rPr>
              <a:t>Habr</a:t>
            </a:r>
            <a:r>
              <a:rPr lang="en-US" sz="2000" dirty="0" smtClean="0">
                <a:highlight>
                  <a:srgbClr val="FFFFFF"/>
                </a:highlight>
              </a:rPr>
              <a:t>: </a:t>
            </a:r>
            <a:r>
              <a:rPr lang="en-US" sz="2000" dirty="0">
                <a:highlight>
                  <a:srgbClr val="FFFFFF"/>
                </a:highlight>
              </a:rPr>
              <a:t>https://habr.com/ru/articles/671598/</a:t>
            </a:r>
            <a:endParaRPr sz="2000" dirty="0">
              <a:highlight>
                <a:srgbClr val="FFFFFF"/>
              </a:highlight>
            </a:endParaRPr>
          </a:p>
          <a:p>
            <a:pPr lvl="0" indent="-355600">
              <a:lnSpc>
                <a:spcPct val="120000"/>
              </a:lnSpc>
              <a:spcBef>
                <a:spcPts val="600"/>
              </a:spcBef>
              <a:buSzPts val="2000"/>
              <a:buFont typeface="Calibri"/>
              <a:buAutoNum type="arabicPeriod" startAt="3"/>
            </a:pPr>
            <a:r>
              <a:rPr lang="ru-RU" sz="2000" dirty="0" smtClean="0">
                <a:highlight>
                  <a:srgbClr val="FFFFFF"/>
                </a:highlight>
              </a:rPr>
              <a:t>Статья </a:t>
            </a:r>
            <a:r>
              <a:rPr lang="en-US" sz="2000" dirty="0" err="1" smtClean="0">
                <a:highlight>
                  <a:srgbClr val="FFFFFF"/>
                </a:highlight>
              </a:rPr>
              <a:t>Habr</a:t>
            </a:r>
            <a:r>
              <a:rPr lang="ru-RU" sz="2000" dirty="0" smtClean="0">
                <a:highlight>
                  <a:srgbClr val="FFFFFF"/>
                </a:highlight>
              </a:rPr>
              <a:t>, работа с </a:t>
            </a:r>
            <a:r>
              <a:rPr lang="en-US" sz="2000" dirty="0">
                <a:highlight>
                  <a:srgbClr val="FFFFFF"/>
                </a:highlight>
              </a:rPr>
              <a:t>Obsidian, URL: </a:t>
            </a:r>
            <a:r>
              <a:rPr lang="en-US" sz="2000" dirty="0">
                <a:highlight>
                  <a:srgbClr val="FFFFFF"/>
                </a:highlight>
                <a:hlinkClick r:id="rId3"/>
              </a:rPr>
              <a:t>https://habr.com/ru/articles/796899</a:t>
            </a:r>
            <a:r>
              <a:rPr lang="en-US" sz="2000" dirty="0" smtClean="0">
                <a:highlight>
                  <a:srgbClr val="FFFFFF"/>
                </a:highlight>
                <a:hlinkClick r:id="rId3"/>
              </a:rPr>
              <a:t>/</a:t>
            </a:r>
            <a:endParaRPr lang="en-US" sz="2000" dirty="0" smtClean="0">
              <a:highlight>
                <a:srgbClr val="FFFFFF"/>
              </a:highlight>
            </a:endParaRPr>
          </a:p>
          <a:p>
            <a:pPr lvl="0" indent="-355600">
              <a:lnSpc>
                <a:spcPct val="120000"/>
              </a:lnSpc>
              <a:spcBef>
                <a:spcPts val="600"/>
              </a:spcBef>
              <a:buSzPts val="2000"/>
              <a:buFont typeface="Calibri"/>
              <a:buAutoNum type="arabicPeriod" startAt="3"/>
            </a:pPr>
            <a:r>
              <a:rPr lang="ru-RU" sz="2000" dirty="0" smtClean="0">
                <a:highlight>
                  <a:srgbClr val="FFFFFF"/>
                </a:highlight>
              </a:rPr>
              <a:t>Аналоги приложения </a:t>
            </a:r>
            <a:r>
              <a:rPr lang="en-US" sz="2000" dirty="0">
                <a:highlight>
                  <a:srgbClr val="FFFFFF"/>
                </a:highlight>
              </a:rPr>
              <a:t>Obsidian, URL: https://timeweb.com/ru/community/articles/top-15-luchshih-prilozheniy-dlya-zametok</a:t>
            </a:r>
            <a:endParaRPr sz="2000" dirty="0"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20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2000" dirty="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0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0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000" dirty="0"/>
          </a:p>
        </p:txBody>
      </p:sp>
      <p:pic>
        <p:nvPicPr>
          <p:cNvPr id="131" name="Google Shape;13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6775" y="299700"/>
            <a:ext cx="1477424" cy="1444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296</Words>
  <Application>Microsoft Office PowerPoint</Application>
  <PresentationFormat>Широкоэкранный</PresentationFormat>
  <Paragraphs>35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Тема Office</vt:lpstr>
      <vt:lpstr> </vt:lpstr>
      <vt:lpstr>Цели и задачи работы</vt:lpstr>
      <vt:lpstr>Образ результата</vt:lpstr>
      <vt:lpstr>Презентация PowerPoint</vt:lpstr>
      <vt:lpstr>Презентация PowerPoint</vt:lpstr>
      <vt:lpstr>Список литературы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Егор Черевичин</dc:creator>
  <cp:lastModifiedBy>Учетная запись Майкрософт</cp:lastModifiedBy>
  <cp:revision>25</cp:revision>
  <dcterms:modified xsi:type="dcterms:W3CDTF">2024-11-15T16:37:16Z</dcterms:modified>
</cp:coreProperties>
</file>