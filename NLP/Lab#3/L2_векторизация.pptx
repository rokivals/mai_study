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63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A3D"/>
    <a:srgbClr val="225D60"/>
    <a:srgbClr val="2A7478"/>
    <a:srgbClr val="256569"/>
    <a:srgbClr val="595959"/>
    <a:srgbClr val="59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gradFill flip="none" rotWithShape="1">
          <a:gsLst>
            <a:gs pos="1000">
              <a:srgbClr val="0F3A3D"/>
            </a:gs>
            <a:gs pos="50000">
              <a:srgbClr val="256569"/>
            </a:gs>
            <a:gs pos="98000">
              <a:srgbClr val="2A7478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Работа\100 лет\100лет копияv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5" y="699311"/>
            <a:ext cx="3810309" cy="1409000"/>
          </a:xfrm>
          <a:prstGeom prst="rect">
            <a:avLst/>
          </a:prstGeom>
          <a:noFill/>
          <a:effectLst>
            <a:outerShdw blurRad="304800" dist="38100" dir="600000" sx="94000" sy="94000" algn="ctr" rotWithShape="0">
              <a:schemeClr val="tx1">
                <a:alpha val="73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595" y="0"/>
            <a:ext cx="653940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831850" y="2334219"/>
            <a:ext cx="10515600" cy="2636032"/>
          </a:xfrm>
          <a:prstGeom prst="rect">
            <a:avLst/>
          </a:prstGeom>
        </p:spPr>
        <p:txBody>
          <a:bodyPr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4675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:\Работа\100 лет\100лет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184" y="362355"/>
            <a:ext cx="2186341" cy="80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bg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01" y="1847850"/>
            <a:ext cx="4777399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Пятиугольник 11"/>
          <p:cNvSpPr/>
          <p:nvPr userDrawn="1"/>
        </p:nvSpPr>
        <p:spPr>
          <a:xfrm>
            <a:off x="-1" y="484908"/>
            <a:ext cx="9569303" cy="578347"/>
          </a:xfrm>
          <a:prstGeom prst="homePlate">
            <a:avLst/>
          </a:prstGeom>
          <a:solidFill>
            <a:srgbClr val="2565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269505" y="565413"/>
            <a:ext cx="10391775" cy="37740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331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1000">
              <a:schemeClr val="bg1">
                <a:lumMod val="95000"/>
              </a:schemeClr>
            </a:gs>
            <a:gs pos="26000">
              <a:schemeClr val="bg1">
                <a:lumMod val="65000"/>
              </a:schemeClr>
            </a:gs>
            <a:gs pos="9000">
              <a:schemeClr val="bg1">
                <a:lumMod val="85000"/>
              </a:schemeClr>
            </a:gs>
            <a:gs pos="94000">
              <a:srgbClr val="256569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D:\Работа\100 лет\100лет копияv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947" y="339306"/>
            <a:ext cx="2249173" cy="83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bg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01" y="1847850"/>
            <a:ext cx="4777399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Пятиугольник 11"/>
          <p:cNvSpPr/>
          <p:nvPr userDrawn="1"/>
        </p:nvSpPr>
        <p:spPr>
          <a:xfrm>
            <a:off x="-1" y="484908"/>
            <a:ext cx="9569303" cy="578347"/>
          </a:xfrm>
          <a:prstGeom prst="homePlate">
            <a:avLst/>
          </a:prstGeom>
          <a:solidFill>
            <a:srgbClr val="2565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9851" y="572013"/>
            <a:ext cx="10515600" cy="404133"/>
          </a:xfrm>
          <a:prstGeom prst="rect">
            <a:avLst/>
          </a:prstGeom>
        </p:spPr>
        <p:txBody>
          <a:bodyPr anchor="b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903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ятиугольник 7"/>
          <p:cNvSpPr/>
          <p:nvPr userDrawn="1"/>
        </p:nvSpPr>
        <p:spPr>
          <a:xfrm>
            <a:off x="-1" y="484908"/>
            <a:ext cx="9569303" cy="578347"/>
          </a:xfrm>
          <a:prstGeom prst="homePlate">
            <a:avLst/>
          </a:prstGeom>
          <a:solidFill>
            <a:srgbClr val="2565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bg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01" y="1847850"/>
            <a:ext cx="4777399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269505" y="565413"/>
            <a:ext cx="10391775" cy="37740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3" name="Picture 4" descr="D:\Работа\100 лет\100лет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184" y="362355"/>
            <a:ext cx="2186341" cy="80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88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bg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01" y="1847850"/>
            <a:ext cx="4777399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Пятиугольник 11"/>
          <p:cNvSpPr/>
          <p:nvPr userDrawn="1"/>
        </p:nvSpPr>
        <p:spPr>
          <a:xfrm>
            <a:off x="-1" y="484908"/>
            <a:ext cx="9569303" cy="578347"/>
          </a:xfrm>
          <a:prstGeom prst="homePlate">
            <a:avLst/>
          </a:prstGeom>
          <a:solidFill>
            <a:srgbClr val="2565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269505" y="565413"/>
            <a:ext cx="10391775" cy="37740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5" name="Picture 4" descr="D:\Работа\100 лет\100лет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184" y="362355"/>
            <a:ext cx="2186341" cy="80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67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bg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01" y="1847850"/>
            <a:ext cx="4777399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Пятиугольник 7"/>
          <p:cNvSpPr/>
          <p:nvPr userDrawn="1"/>
        </p:nvSpPr>
        <p:spPr>
          <a:xfrm>
            <a:off x="-1" y="484908"/>
            <a:ext cx="9569303" cy="578347"/>
          </a:xfrm>
          <a:prstGeom prst="homePlate">
            <a:avLst/>
          </a:prstGeom>
          <a:solidFill>
            <a:srgbClr val="2565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9505" y="565413"/>
            <a:ext cx="10391775" cy="37740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0" name="Picture 4" descr="D:\Работа\100 лет\100лет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184" y="362355"/>
            <a:ext cx="2186341" cy="80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08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bg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01" y="1847850"/>
            <a:ext cx="4777399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Пятиугольник 6"/>
          <p:cNvSpPr/>
          <p:nvPr userDrawn="1"/>
        </p:nvSpPr>
        <p:spPr>
          <a:xfrm>
            <a:off x="-1" y="484908"/>
            <a:ext cx="9569303" cy="578347"/>
          </a:xfrm>
          <a:prstGeom prst="homePlate">
            <a:avLst/>
          </a:prstGeom>
          <a:solidFill>
            <a:srgbClr val="2565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69505" y="565413"/>
            <a:ext cx="10391775" cy="37740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0" name="Picture 4" descr="D:\Работа\100 лет\100лет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184" y="362355"/>
            <a:ext cx="2186341" cy="80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051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ятиугольник 13"/>
          <p:cNvSpPr/>
          <p:nvPr userDrawn="1"/>
        </p:nvSpPr>
        <p:spPr>
          <a:xfrm>
            <a:off x="-1" y="484908"/>
            <a:ext cx="9569303" cy="578347"/>
          </a:xfrm>
          <a:prstGeom prst="homePlate">
            <a:avLst/>
          </a:prstGeom>
          <a:solidFill>
            <a:srgbClr val="2565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39" y="642938"/>
            <a:ext cx="5729286" cy="344486"/>
          </a:xfrm>
          <a:prstGeom prst="rect">
            <a:avLst/>
          </a:prstGeom>
        </p:spPr>
        <p:txBody>
          <a:bodyPr anchor="b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bg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01" y="1847850"/>
            <a:ext cx="4777399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4" descr="D:\Работа\100 лет\100лет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184" y="362355"/>
            <a:ext cx="2186341" cy="80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715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ятиугольник 9"/>
          <p:cNvSpPr/>
          <p:nvPr userDrawn="1"/>
        </p:nvSpPr>
        <p:spPr>
          <a:xfrm>
            <a:off x="-1" y="484908"/>
            <a:ext cx="9569303" cy="578347"/>
          </a:xfrm>
          <a:prstGeom prst="homePlate">
            <a:avLst/>
          </a:prstGeom>
          <a:solidFill>
            <a:srgbClr val="2565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9654" y="509428"/>
            <a:ext cx="8514860" cy="501651"/>
          </a:xfrm>
          <a:prstGeom prst="rect">
            <a:avLst/>
          </a:prstGeom>
        </p:spPr>
        <p:txBody>
          <a:bodyPr anchor="b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61417" y="1246902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52413" y="244713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bg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01" y="1847850"/>
            <a:ext cx="4777399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4" descr="D:\Работа\100 лет\100лет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184" y="362355"/>
            <a:ext cx="2186341" cy="80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96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bg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01" y="1847850"/>
            <a:ext cx="4777399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Пятиугольник 8"/>
          <p:cNvSpPr/>
          <p:nvPr userDrawn="1"/>
        </p:nvSpPr>
        <p:spPr>
          <a:xfrm>
            <a:off x="-1" y="484908"/>
            <a:ext cx="9569303" cy="578347"/>
          </a:xfrm>
          <a:prstGeom prst="homePlate">
            <a:avLst/>
          </a:prstGeom>
          <a:solidFill>
            <a:srgbClr val="2565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269505" y="565413"/>
            <a:ext cx="10391775" cy="37740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Picture 4" descr="D:\Работа\100 лет\100лет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184" y="362355"/>
            <a:ext cx="2186341" cy="80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56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1246903"/>
            <a:ext cx="7734300" cy="49300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30AB-7E7F-42A0-9819-35D12B816B3C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12B7-E224-4081-8122-29E446CEC7A3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bg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01" y="1847850"/>
            <a:ext cx="4777399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Пятиугольник 8"/>
          <p:cNvSpPr/>
          <p:nvPr userDrawn="1"/>
        </p:nvSpPr>
        <p:spPr>
          <a:xfrm>
            <a:off x="-1" y="484908"/>
            <a:ext cx="9569303" cy="578347"/>
          </a:xfrm>
          <a:prstGeom prst="homePlate">
            <a:avLst/>
          </a:prstGeom>
          <a:solidFill>
            <a:srgbClr val="2565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269505" y="565413"/>
            <a:ext cx="10391775" cy="37740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Picture 4" descr="D:\Работа\100 лет\100лет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184" y="362355"/>
            <a:ext cx="2186341" cy="80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02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">
              <a:schemeClr val="bg1">
                <a:lumMod val="95000"/>
              </a:schemeClr>
            </a:gs>
            <a:gs pos="86000">
              <a:schemeClr val="bg1">
                <a:lumMod val="85000"/>
              </a:schemeClr>
            </a:gs>
            <a:gs pos="29000">
              <a:schemeClr val="bg1">
                <a:lumMod val="95000"/>
              </a:schemeClr>
            </a:gs>
            <a:gs pos="98000">
              <a:srgbClr val="256569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530AB-7E7F-42A0-9819-35D12B816B3C}" type="datetimeFigureOut">
              <a:rPr lang="ru-RU" smtClean="0"/>
              <a:t>04.10.2025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ook Antiqua" panose="02040602050305030304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912B7-E224-4081-8122-29E446CEC7A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8804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ook Antiqua" panose="0204060205030503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Wingdings" panose="05000000000000000000" pitchFamily="2" charset="2"/>
        <a:buChar char="ü"/>
        <a:defRPr sz="2800" kern="1200">
          <a:solidFill>
            <a:srgbClr val="595959"/>
          </a:solidFill>
          <a:latin typeface="Book Antiqua" panose="0204060205030503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ü"/>
        <a:defRPr sz="2400" kern="1200">
          <a:solidFill>
            <a:srgbClr val="595959"/>
          </a:solidFill>
          <a:latin typeface="Book Antiqua" panose="0204060205030503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ü"/>
        <a:defRPr sz="2000" kern="1200">
          <a:solidFill>
            <a:srgbClr val="595959"/>
          </a:solidFill>
          <a:latin typeface="Book Antiqua" panose="0204060205030503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ü"/>
        <a:defRPr sz="1800" kern="1200">
          <a:solidFill>
            <a:srgbClr val="595959"/>
          </a:solidFill>
          <a:latin typeface="Book Antiqua" panose="0204060205030503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ü"/>
        <a:defRPr sz="1800" kern="1200">
          <a:solidFill>
            <a:srgbClr val="595959"/>
          </a:solidFill>
          <a:latin typeface="Book Antiqua" panose="020406020503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607.04606.pdf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nlp.stanford.edu/pubs/glove.pdf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48067-199C-4D46-A511-75586ECB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материалам </a:t>
            </a:r>
            <a:r>
              <a:rPr lang="ru-RU" dirty="0" err="1"/>
              <a:t>Сбер</a:t>
            </a:r>
            <a:r>
              <a:rPr lang="ru-RU" dirty="0"/>
              <a:t>, МПФИ, Тинькофф и </a:t>
            </a:r>
            <a:r>
              <a:rPr lang="ru-RU" dirty="0" err="1"/>
              <a:t>др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7160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853997" y="1559680"/>
            <a:ext cx="9055114" cy="4631667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ru-RU" sz="6800" dirty="0"/>
              <a:t>Обработка текстов на естественном языке (</a:t>
            </a:r>
            <a:r>
              <a:rPr lang="ru-RU" sz="6800" b="1" dirty="0"/>
              <a:t>NLP</a:t>
            </a:r>
            <a:r>
              <a:rPr lang="ru-RU" sz="6800" dirty="0"/>
              <a:t>; Natural </a:t>
            </a:r>
            <a:r>
              <a:rPr lang="ru-RU" sz="6800" dirty="0" err="1"/>
              <a:t>language</a:t>
            </a:r>
            <a:r>
              <a:rPr lang="ru-RU" sz="6800" dirty="0"/>
              <a:t> </a:t>
            </a:r>
            <a:r>
              <a:rPr lang="ru-RU" sz="6800" dirty="0" err="1"/>
              <a:t>processing</a:t>
            </a:r>
            <a:r>
              <a:rPr lang="ru-RU" sz="6800" dirty="0"/>
              <a:t>) — это область исследований, целью </a:t>
            </a:r>
            <a:r>
              <a:rPr lang="ru-RU" sz="6800" dirty="0" err="1"/>
              <a:t>которои</a:t>
            </a:r>
            <a:r>
              <a:rPr lang="ru-RU" sz="6800" dirty="0"/>
              <a:t>̆ является анализ и понимание человеческих языков, а также разработка технологий, обеспечивающих </a:t>
            </a:r>
            <a:r>
              <a:rPr lang="ru-RU" sz="6800" dirty="0" err="1"/>
              <a:t>взаимодействие</a:t>
            </a:r>
            <a:r>
              <a:rPr lang="ru-RU" sz="6800" dirty="0"/>
              <a:t> человека с </a:t>
            </a:r>
            <a:r>
              <a:rPr lang="ru-RU" sz="6800" dirty="0" err="1"/>
              <a:t>машинои</a:t>
            </a:r>
            <a:r>
              <a:rPr lang="ru-RU" sz="6800" dirty="0"/>
              <a:t>̆ на естественном языке. </a:t>
            </a:r>
            <a:endParaRPr lang="en-US" sz="6800" dirty="0"/>
          </a:p>
          <a:p>
            <a:pPr algn="just"/>
            <a:r>
              <a:rPr lang="ru-RU" sz="6800" dirty="0"/>
              <a:t>Под естественным языком понимаются языки, используемые для общения с людьми. Это если говорить кратко. Если рассматривать этот раздел с более </a:t>
            </a:r>
            <a:r>
              <a:rPr lang="ru-RU" sz="6800" dirty="0" err="1"/>
              <a:t>широкои</a:t>
            </a:r>
            <a:r>
              <a:rPr lang="ru-RU" sz="6800" dirty="0"/>
              <a:t>̆ точки зрения, это объединение искусственного интеллекта и естественного языка.</a:t>
            </a:r>
            <a:endParaRPr lang="en-US" sz="6800" dirty="0"/>
          </a:p>
          <a:p>
            <a:pPr algn="just"/>
            <a:r>
              <a:rPr lang="ru-RU" sz="6800" dirty="0"/>
              <a:t> Также NLP имеет два подраздела:</a:t>
            </a:r>
          </a:p>
          <a:p>
            <a:pPr algn="just"/>
            <a:r>
              <a:rPr lang="ru-RU" sz="6800" dirty="0"/>
              <a:t>●  NLU = Natural </a:t>
            </a:r>
            <a:r>
              <a:rPr lang="ru-RU" sz="6800" dirty="0" err="1"/>
              <a:t>language</a:t>
            </a:r>
            <a:r>
              <a:rPr lang="ru-RU" sz="6800" dirty="0"/>
              <a:t> </a:t>
            </a:r>
            <a:r>
              <a:rPr lang="ru-RU" sz="6800" dirty="0" err="1"/>
              <a:t>understanding</a:t>
            </a:r>
            <a:r>
              <a:rPr lang="ru-RU" sz="6800" dirty="0"/>
              <a:t> = Понимание естественного языка</a:t>
            </a:r>
            <a:br>
              <a:rPr lang="ru-RU" sz="6800" dirty="0"/>
            </a:br>
            <a:r>
              <a:rPr lang="ru-RU" sz="6800" dirty="0"/>
              <a:t>●  NLG = Natural </a:t>
            </a:r>
            <a:r>
              <a:rPr lang="ru-RU" sz="6800" dirty="0" err="1"/>
              <a:t>language</a:t>
            </a:r>
            <a:r>
              <a:rPr lang="ru-RU" sz="6800" dirty="0"/>
              <a:t> </a:t>
            </a:r>
            <a:r>
              <a:rPr lang="ru-RU" sz="6800" dirty="0" err="1"/>
              <a:t>generation</a:t>
            </a:r>
            <a:r>
              <a:rPr lang="ru-RU" sz="6800" dirty="0"/>
              <a:t> = Генерация естественного языка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5600" y="541350"/>
            <a:ext cx="10391775" cy="377403"/>
          </a:xfrm>
        </p:spPr>
        <p:txBody>
          <a:bodyPr/>
          <a:lstStyle/>
          <a:p>
            <a:r>
              <a:rPr lang="en-US" sz="3200" dirty="0"/>
              <a:t>NLP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000514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AC052-58CF-23F7-6A82-CD0E187A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7C14E1C-B029-E346-C7CE-0F0CD62CC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54" y="509428"/>
            <a:ext cx="8514860" cy="501651"/>
          </a:xfrm>
        </p:spPr>
        <p:txBody>
          <a:bodyPr anchor="b">
            <a:normAutofit/>
          </a:bodyPr>
          <a:lstStyle/>
          <a:p>
            <a:r>
              <a:rPr lang="en-US"/>
              <a:t>NLP</a:t>
            </a:r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B1E20F-0946-13EF-3201-A01939C99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1" b="1"/>
          <a:stretch>
            <a:fillRect/>
          </a:stretch>
        </p:blipFill>
        <p:spPr bwMode="auto">
          <a:xfrm>
            <a:off x="5161417" y="1246902"/>
            <a:ext cx="6172200" cy="4873625"/>
          </a:xfrm>
          <a:prstGeom prst="rect">
            <a:avLst/>
          </a:prstGeom>
          <a:solidFill>
            <a:srgbClr val="FFFFFF"/>
          </a:solidFill>
          <a:extLst/>
        </p:spPr>
      </p:pic>
      <p:sp>
        <p:nvSpPr>
          <p:cNvPr id="2" name="Объект 1">
            <a:extLst>
              <a:ext uri="{FF2B5EF4-FFF2-40B4-BE49-F238E27FC236}">
                <a16:creationId xmlns:a16="http://schemas.microsoft.com/office/drawing/2014/main" id="{1AC285C9-9709-C40C-506D-DA31180E4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2413" y="2447131"/>
            <a:ext cx="3932237" cy="3811588"/>
          </a:xfrm>
        </p:spPr>
        <p:txBody>
          <a:bodyPr>
            <a:normAutofit/>
          </a:bodyPr>
          <a:lstStyle/>
          <a:p>
            <a:r>
              <a:rPr lang="ru-RU"/>
              <a:t>●  NLU = Natural </a:t>
            </a:r>
            <a:r>
              <a:rPr lang="ru-RU" err="1"/>
              <a:t>language</a:t>
            </a:r>
            <a:r>
              <a:rPr lang="ru-RU"/>
              <a:t> </a:t>
            </a:r>
            <a:r>
              <a:rPr lang="ru-RU" err="1"/>
              <a:t>understanding</a:t>
            </a:r>
            <a:r>
              <a:rPr lang="ru-RU"/>
              <a:t> = Понимание естественного языка</a:t>
            </a:r>
            <a:br>
              <a:rPr lang="ru-RU"/>
            </a:br>
            <a:r>
              <a:rPr lang="ru-RU"/>
              <a:t>●  NLG = Natural </a:t>
            </a:r>
            <a:r>
              <a:rPr lang="ru-RU" err="1"/>
              <a:t>language</a:t>
            </a:r>
            <a:r>
              <a:rPr lang="ru-RU"/>
              <a:t> </a:t>
            </a:r>
            <a:r>
              <a:rPr lang="ru-RU" err="1"/>
              <a:t>generation</a:t>
            </a:r>
            <a:r>
              <a:rPr lang="ru-RU"/>
              <a:t> = Генерация естественного языка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0386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5C26-5C50-C67D-76E5-C409B65B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4F9F6BF-4436-9416-EDB6-5A901C961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54" y="509428"/>
            <a:ext cx="8514860" cy="501651"/>
          </a:xfrm>
        </p:spPr>
        <p:txBody>
          <a:bodyPr anchor="b">
            <a:normAutofit/>
          </a:bodyPr>
          <a:lstStyle/>
          <a:p>
            <a:r>
              <a:rPr lang="en-US"/>
              <a:t>NLP</a:t>
            </a:r>
            <a:endParaRPr lang="ru-RU"/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C8B944DB-F402-A5F6-6CBF-487245670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0588" y="1306286"/>
            <a:ext cx="11420669" cy="5355771"/>
          </a:xfrm>
        </p:spPr>
        <p:txBody>
          <a:bodyPr>
            <a:normAutofit/>
          </a:bodyPr>
          <a:lstStyle/>
          <a:p>
            <a:r>
              <a:rPr lang="ru-RU" dirty="0"/>
              <a:t>Конечно, как и в </a:t>
            </a:r>
            <a:r>
              <a:rPr lang="ru-RU" dirty="0" err="1"/>
              <a:t>каждои</a:t>
            </a:r>
            <a:r>
              <a:rPr lang="ru-RU" dirty="0"/>
              <a:t>̆ области, в NLP есть свои сложности. Приведем основные примеры:</a:t>
            </a:r>
            <a:br>
              <a:rPr lang="ru-RU" dirty="0"/>
            </a:br>
            <a:r>
              <a:rPr lang="ru-RU" dirty="0"/>
              <a:t>●  Разнообразие языков</a:t>
            </a:r>
          </a:p>
          <a:p>
            <a:r>
              <a:rPr lang="ru-RU" dirty="0"/>
              <a:t>●  Свободный порядок слов</a:t>
            </a:r>
          </a:p>
          <a:p>
            <a:r>
              <a:rPr lang="ru-RU" dirty="0"/>
              <a:t>●  Добавление новых слов</a:t>
            </a:r>
          </a:p>
          <a:p>
            <a:r>
              <a:rPr lang="ru-RU" dirty="0"/>
              <a:t>●  Необходимость знаний об окружающем мире</a:t>
            </a:r>
          </a:p>
          <a:p>
            <a:r>
              <a:rPr lang="ru-RU" dirty="0"/>
              <a:t>●  Языковые особенности:</a:t>
            </a:r>
          </a:p>
          <a:p>
            <a:r>
              <a:rPr lang="ru-RU" dirty="0"/>
              <a:t>o неологизмы (слова, которые не существуют в данном языке, они были заимствованы из других, сохраняя произношение исходного языка)</a:t>
            </a:r>
          </a:p>
          <a:p>
            <a:r>
              <a:rPr lang="ru-RU" dirty="0"/>
              <a:t>o омонимы (слова, одинаковые по написанию и звучанию, но имеющие разные значения)</a:t>
            </a:r>
          </a:p>
          <a:p>
            <a:r>
              <a:rPr lang="ru-RU" dirty="0"/>
              <a:t>o многозначность</a:t>
            </a:r>
          </a:p>
          <a:p>
            <a:r>
              <a:rPr lang="ru-RU" dirty="0"/>
              <a:t>o идиомы («не </a:t>
            </a:r>
            <a:r>
              <a:rPr lang="ru-RU" dirty="0" err="1"/>
              <a:t>маи</a:t>
            </a:r>
            <a:r>
              <a:rPr lang="ru-RU" dirty="0"/>
              <a:t>̆ месяц»; «мир тесен»; «сколько лет, сколько зим» и т. д.)</a:t>
            </a:r>
          </a:p>
          <a:p>
            <a:r>
              <a:rPr lang="ru-RU" dirty="0"/>
              <a:t>o </a:t>
            </a:r>
            <a:r>
              <a:rPr lang="ru-RU" dirty="0" err="1"/>
              <a:t>нестандартныи</a:t>
            </a:r>
            <a:r>
              <a:rPr lang="ru-RU" dirty="0"/>
              <a:t>̆ язык (неправильное использование предложений, пунктуации, ошибки при написании сообщений)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1702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C931-C8B9-59C8-EC8D-59C8F75DD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D8BCFAB-E93C-94EF-FD55-D2BB628F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54" y="509428"/>
            <a:ext cx="8514860" cy="501651"/>
          </a:xfrm>
        </p:spPr>
        <p:txBody>
          <a:bodyPr anchor="b">
            <a:normAutofit/>
          </a:bodyPr>
          <a:lstStyle/>
          <a:p>
            <a:r>
              <a:rPr lang="en-US"/>
              <a:t>NLP</a:t>
            </a:r>
            <a:endParaRPr lang="ru-RU"/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3776AD32-449F-BC7A-97B4-F3C2391C0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0588" y="1306286"/>
            <a:ext cx="11420669" cy="5355771"/>
          </a:xfrm>
        </p:spPr>
        <p:txBody>
          <a:bodyPr>
            <a:normAutofit/>
          </a:bodyPr>
          <a:lstStyle/>
          <a:p>
            <a:r>
              <a:rPr lang="ru-RU" dirty="0"/>
              <a:t>Почти все задачи в NLP можно разделить на три класса:</a:t>
            </a:r>
          </a:p>
          <a:p>
            <a:r>
              <a:rPr lang="ru-RU" i="1" u="sng" dirty="0"/>
              <a:t>1. Классификация текстов</a:t>
            </a:r>
            <a:r>
              <a:rPr lang="ru-RU" dirty="0"/>
              <a:t> — необходимо отнести текст к одному из заранее заданных классов</a:t>
            </a:r>
          </a:p>
          <a:p>
            <a:r>
              <a:rPr lang="ru-RU" dirty="0"/>
              <a:t>Схема: текст → метка или несколько меток.</a:t>
            </a:r>
          </a:p>
          <a:p>
            <a:r>
              <a:rPr lang="ru-RU" dirty="0"/>
              <a:t>Примеры: анализ тональности, определение темы текста, фильтрация спама.</a:t>
            </a:r>
          </a:p>
          <a:p>
            <a:r>
              <a:rPr lang="ru-RU" i="1" u="sng" dirty="0"/>
              <a:t>2. Классификация последовательности</a:t>
            </a:r>
            <a:r>
              <a:rPr lang="ru-RU" dirty="0"/>
              <a:t> — каждому слову из последовательности необходимо сопоставить метку из заранее заданного списка меток</a:t>
            </a:r>
          </a:p>
          <a:p>
            <a:r>
              <a:rPr lang="ru-RU" dirty="0"/>
              <a:t>Схема: каждое слово в тексте → метка.</a:t>
            </a:r>
          </a:p>
          <a:p>
            <a:r>
              <a:rPr lang="ru-RU" dirty="0"/>
              <a:t>Примеры: извлечение именованных </a:t>
            </a:r>
            <a:r>
              <a:rPr lang="ru-RU" dirty="0" err="1"/>
              <a:t>сущностеи</a:t>
            </a:r>
            <a:r>
              <a:rPr lang="ru-RU" dirty="0"/>
              <a:t>̆ (NER, </a:t>
            </a:r>
            <a:r>
              <a:rPr lang="ru-RU" dirty="0" err="1"/>
              <a:t>Named</a:t>
            </a:r>
            <a:r>
              <a:rPr lang="ru-RU" dirty="0"/>
              <a:t>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recognition</a:t>
            </a:r>
            <a:r>
              <a:rPr lang="ru-RU" dirty="0"/>
              <a:t>), определение части речи.</a:t>
            </a:r>
          </a:p>
          <a:p>
            <a:r>
              <a:rPr lang="ru-RU" i="1" u="sng" dirty="0"/>
              <a:t>3. </a:t>
            </a:r>
            <a:r>
              <a:rPr lang="ru-RU" i="1" u="sng" dirty="0" err="1"/>
              <a:t>Sequence</a:t>
            </a:r>
            <a:r>
              <a:rPr lang="ru-RU" i="1" u="sng" dirty="0"/>
              <a:t> </a:t>
            </a:r>
            <a:r>
              <a:rPr lang="ru-RU" i="1" u="sng" dirty="0" err="1"/>
              <a:t>to</a:t>
            </a:r>
            <a:r>
              <a:rPr lang="ru-RU" i="1" u="sng" dirty="0"/>
              <a:t> </a:t>
            </a:r>
            <a:r>
              <a:rPr lang="ru-RU" i="1" u="sng" dirty="0" err="1"/>
              <a:t>sequence</a:t>
            </a:r>
            <a:r>
              <a:rPr lang="ru-RU" i="1" u="sng" dirty="0"/>
              <a:t> (seq2seq)</a:t>
            </a:r>
            <a:r>
              <a:rPr lang="ru-RU" dirty="0"/>
              <a:t>, или «последовательность в последовательность» — необходимо на основе поданного на вход текста сгенерировать текст</a:t>
            </a:r>
          </a:p>
          <a:p>
            <a:r>
              <a:rPr lang="ru-RU" dirty="0"/>
              <a:t>Схема: текст → текст.</a:t>
            </a:r>
          </a:p>
          <a:p>
            <a:r>
              <a:rPr lang="ru-RU" dirty="0"/>
              <a:t>Примеры: перевод, предсказание следующего слова или фразы.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493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6B2EF-0ABC-CB1D-1347-87E04438D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AF8E3F8B-F1F1-9678-654E-05766FF192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ru-RU" sz="1800"/>
              <a:t>Основные этапы решения задачи NLP на основе машинного обучения:</a:t>
            </a:r>
          </a:p>
          <a:p>
            <a:r>
              <a:rPr lang="ru-RU" sz="1800"/>
              <a:t>●  Сбор и разметка данных, формирование корпуса (обучающих данных)</a:t>
            </a:r>
            <a:br>
              <a:rPr lang="ru-RU" sz="1800"/>
            </a:br>
            <a:r>
              <a:rPr lang="ru-RU" sz="1800"/>
              <a:t>●  Предобработка и очистка текстов корпуса</a:t>
            </a:r>
            <a:br>
              <a:rPr lang="ru-RU" sz="1800"/>
            </a:br>
            <a:r>
              <a:rPr lang="ru-RU" sz="1800"/>
              <a:t>●  Формирование признаков (векторизация)</a:t>
            </a:r>
            <a:br>
              <a:rPr lang="ru-RU" sz="1800"/>
            </a:br>
            <a:r>
              <a:rPr lang="ru-RU" sz="1800"/>
              <a:t>●  Выбор и обучение модели машинного обучения</a:t>
            </a:r>
            <a:br>
              <a:rPr lang="ru-RU" sz="1800"/>
            </a:br>
            <a:r>
              <a:rPr lang="ru-RU" sz="1800"/>
              <a:t>●  Оценка качества и применение</a:t>
            </a:r>
          </a:p>
          <a:p>
            <a:r>
              <a:rPr lang="ru-RU" sz="1800"/>
              <a:t>В случае, если полученное качество </a:t>
            </a:r>
            <a:r>
              <a:rPr lang="ru-RU" sz="1800" err="1"/>
              <a:t>выбраннои</a:t>
            </a:r>
            <a:r>
              <a:rPr lang="ru-RU" sz="1800"/>
              <a:t>̆ модели не удовлетворяет заданным критериям, пункты 4 и 5 повторяются с </a:t>
            </a:r>
            <a:r>
              <a:rPr lang="ru-RU" sz="1800" err="1"/>
              <a:t>другои</a:t>
            </a:r>
            <a:r>
              <a:rPr lang="ru-RU" sz="1800"/>
              <a:t>̆ моделью.</a:t>
            </a:r>
          </a:p>
          <a:p>
            <a:pPr marL="0" indent="0">
              <a:buNone/>
            </a:pPr>
            <a:endParaRPr lang="ru-RU" sz="18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F1799E-75E7-A4DF-8476-BC74AD4DC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427383"/>
            <a:ext cx="5181600" cy="3147821"/>
          </a:xfrm>
          <a:prstGeom prst="rect">
            <a:avLst/>
          </a:prstGeom>
          <a:solidFill>
            <a:srgbClr val="FFFFFF"/>
          </a:solidFill>
          <a:extLst/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791630E-62A5-A68C-3A37-323E5DBA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5" y="565413"/>
            <a:ext cx="10391775" cy="377403"/>
          </a:xfrm>
        </p:spPr>
        <p:txBody>
          <a:bodyPr>
            <a:normAutofit/>
          </a:bodyPr>
          <a:lstStyle/>
          <a:p>
            <a:r>
              <a:rPr lang="en-US"/>
              <a:t>NLP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03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EFB8D-2388-5792-8D79-85605939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26A55C6-6A6F-FE5F-F554-AC91B1B3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54" y="509428"/>
            <a:ext cx="8514860" cy="501651"/>
          </a:xfrm>
        </p:spPr>
        <p:txBody>
          <a:bodyPr anchor="b">
            <a:normAutofit/>
          </a:bodyPr>
          <a:lstStyle/>
          <a:p>
            <a:r>
              <a:rPr lang="ru-RU" b="0" dirty="0"/>
              <a:t>Частотные признаки, </a:t>
            </a:r>
            <a:r>
              <a:rPr lang="en-US" b="0" dirty="0"/>
              <a:t>TF-IDF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227A9D7D-FACD-41CA-4F20-AA6B52F55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0588" y="1306286"/>
            <a:ext cx="11420669" cy="5355771"/>
          </a:xfrm>
        </p:spPr>
        <p:txBody>
          <a:bodyPr>
            <a:normAutofit/>
          </a:bodyPr>
          <a:lstStyle/>
          <a:p>
            <a:r>
              <a:rPr lang="ru-RU" dirty="0"/>
              <a:t>Модели векторного представления слова и текста</a:t>
            </a:r>
          </a:p>
          <a:p>
            <a:r>
              <a:rPr lang="ru-RU" dirty="0"/>
              <a:t>Поскольку модели машинного обучения работают с численными данными, необходимо преобразовать тексты в числа. Существует несколько способов подобного преобразования:</a:t>
            </a:r>
          </a:p>
          <a:p>
            <a:r>
              <a:rPr lang="ru-RU" dirty="0"/>
              <a:t>●  Первое поколение: векторное представление текста (мешок слов, TF-IDF)</a:t>
            </a:r>
            <a:br>
              <a:rPr lang="ru-RU" dirty="0"/>
            </a:br>
            <a:r>
              <a:rPr lang="ru-RU" dirty="0"/>
              <a:t>●  Второе поколение: векторное представление слова (word2vec, GLOVE, </a:t>
            </a:r>
            <a:r>
              <a:rPr lang="ru-RU" dirty="0" err="1"/>
              <a:t>Fasttext</a:t>
            </a:r>
            <a:r>
              <a:rPr lang="ru-RU" dirty="0"/>
              <a:t>)</a:t>
            </a:r>
            <a:br>
              <a:rPr lang="ru-RU" dirty="0"/>
            </a:br>
            <a:r>
              <a:rPr lang="ru-RU" dirty="0"/>
              <a:t>●  Третье поколение: языковые модели (</a:t>
            </a:r>
            <a:r>
              <a:rPr lang="ru-RU" dirty="0" err="1"/>
              <a:t>ELMo</a:t>
            </a:r>
            <a:r>
              <a:rPr lang="ru-RU" dirty="0"/>
              <a:t>, BERT, GPT и т. д.)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5649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89E17-778A-EA53-5DD6-AC5942AC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5D90EA3-DA4A-5DC7-A70E-5CDBFEA4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54" y="509428"/>
            <a:ext cx="8514860" cy="501651"/>
          </a:xfrm>
        </p:spPr>
        <p:txBody>
          <a:bodyPr anchor="b">
            <a:normAutofit/>
          </a:bodyPr>
          <a:lstStyle/>
          <a:p>
            <a:r>
              <a:rPr lang="ru-RU" b="0" dirty="0"/>
              <a:t>Частотные признаки, </a:t>
            </a:r>
            <a:r>
              <a:rPr lang="en-US" b="0" dirty="0"/>
              <a:t>TF-IDF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75CF9216-1213-3D0F-67CA-CFB80C316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0588" y="1306286"/>
            <a:ext cx="11420669" cy="5355771"/>
          </a:xfrm>
        </p:spPr>
        <p:txBody>
          <a:bodyPr>
            <a:normAutofit/>
          </a:bodyPr>
          <a:lstStyle/>
          <a:p>
            <a:r>
              <a:rPr lang="ru-RU" i="1" u="sng" dirty="0"/>
              <a:t>Мешок слов</a:t>
            </a:r>
            <a:endParaRPr lang="ru-RU" dirty="0"/>
          </a:p>
          <a:p>
            <a:r>
              <a:rPr lang="ru-RU" dirty="0"/>
              <a:t>Рассмотрим векторное представление текста с помощью мешка слов (</a:t>
            </a:r>
            <a:r>
              <a:rPr lang="ru-RU" dirty="0" err="1"/>
              <a:t>bag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words</a:t>
            </a:r>
            <a:r>
              <a:rPr lang="ru-RU" dirty="0"/>
              <a:t>). Мешок слов основан на подсчете количества слов в документе. Для его формирования на первом этапе задается словарь — все уникальные слова, которые встретились в документах коллекции. Затем для каждого документа строится вектор длины словаря, где для каждого слова из словаря указано количество вхождения этого слова в документ.</a:t>
            </a:r>
          </a:p>
          <a:p>
            <a:r>
              <a:rPr lang="ru-RU" dirty="0"/>
              <a:t>Плюсы:</a:t>
            </a:r>
            <a:br>
              <a:rPr lang="ru-RU" dirty="0"/>
            </a:br>
            <a:r>
              <a:rPr lang="ru-RU" dirty="0"/>
              <a:t>●  Легко реализовать</a:t>
            </a:r>
            <a:br>
              <a:rPr lang="ru-RU" dirty="0"/>
            </a:br>
            <a:r>
              <a:rPr lang="ru-RU" dirty="0"/>
              <a:t>●  Можно применить для любого языка</a:t>
            </a:r>
          </a:p>
          <a:p>
            <a:r>
              <a:rPr lang="ru-RU" dirty="0"/>
              <a:t>Минусы:</a:t>
            </a:r>
            <a:br>
              <a:rPr lang="ru-RU" dirty="0"/>
            </a:br>
            <a:r>
              <a:rPr lang="ru-RU" dirty="0"/>
              <a:t>●  Не учитывается порядок слов, семантика и грамматика (можно улучшить с помощью добавления словосочетаний в словарь)</a:t>
            </a:r>
            <a:br>
              <a:rPr lang="ru-RU" dirty="0"/>
            </a:br>
            <a:r>
              <a:rPr lang="ru-RU" dirty="0"/>
              <a:t>●  Вектор документа имеет большую размерность</a:t>
            </a:r>
            <a:br>
              <a:rPr lang="ru-RU" dirty="0"/>
            </a:br>
            <a:r>
              <a:rPr lang="ru-RU" dirty="0"/>
              <a:t>●  Сложность при добавлении новых слов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089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95E1-09F2-4F40-2C18-9C13466E2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1D113D4-4C02-6F5B-C8AC-D53353824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9" y="642938"/>
            <a:ext cx="5729286" cy="344486"/>
          </a:xfrm>
        </p:spPr>
        <p:txBody>
          <a:bodyPr anchor="b">
            <a:normAutofit/>
          </a:bodyPr>
          <a:lstStyle/>
          <a:p>
            <a:r>
              <a:rPr lang="ru-RU" b="0" dirty="0"/>
              <a:t>Частотные признаки, </a:t>
            </a:r>
            <a:r>
              <a:rPr lang="en-US" b="0" dirty="0"/>
              <a:t>TF-IDF</a:t>
            </a:r>
          </a:p>
        </p:txBody>
      </p:sp>
      <p:pic>
        <p:nvPicPr>
          <p:cNvPr id="5122" name="Picture 2" descr="Изображение выглядит как текст, чек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7B5DF1-E86E-23CE-524B-34454CBEE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25651" y="1488640"/>
            <a:ext cx="6172200" cy="1604771"/>
          </a:xfrm>
          <a:prstGeom prst="rect">
            <a:avLst/>
          </a:prstGeom>
          <a:solidFill>
            <a:srgbClr val="FFFFFF"/>
          </a:solidFill>
          <a:extLst/>
        </p:spPr>
      </p:pic>
      <p:sp>
        <p:nvSpPr>
          <p:cNvPr id="5127" name="Text Placeholder 3">
            <a:extLst>
              <a:ext uri="{FF2B5EF4-FFF2-40B4-BE49-F238E27FC236}">
                <a16:creationId xmlns:a16="http://schemas.microsoft.com/office/drawing/2014/main" id="{CDAFE6DC-2DD8-5269-6B2C-C0E793328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8612" y="1187617"/>
            <a:ext cx="3932237" cy="3811588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TF-IDF (сокращение от </a:t>
            </a:r>
            <a:r>
              <a:rPr lang="ru-RU" dirty="0" err="1"/>
              <a:t>term</a:t>
            </a:r>
            <a:r>
              <a:rPr lang="ru-RU" dirty="0"/>
              <a:t> </a:t>
            </a:r>
            <a:r>
              <a:rPr lang="ru-RU" dirty="0" err="1"/>
              <a:t>frequency</a:t>
            </a:r>
            <a:r>
              <a:rPr lang="ru-RU" dirty="0"/>
              <a:t> — </a:t>
            </a:r>
            <a:r>
              <a:rPr lang="ru-RU" dirty="0" err="1"/>
              <a:t>inverse</a:t>
            </a:r>
            <a:r>
              <a:rPr lang="ru-RU" dirty="0"/>
              <a:t> </a:t>
            </a:r>
            <a:r>
              <a:rPr lang="ru-RU" dirty="0" err="1"/>
              <a:t>document</a:t>
            </a:r>
            <a:r>
              <a:rPr lang="ru-RU" dirty="0"/>
              <a:t> </a:t>
            </a:r>
            <a:r>
              <a:rPr lang="ru-RU" dirty="0" err="1"/>
              <a:t>frequency</a:t>
            </a:r>
            <a:r>
              <a:rPr lang="ru-RU" dirty="0"/>
              <a:t>) — это статистическая мера для оценки важности слова в документе, </a:t>
            </a:r>
            <a:r>
              <a:rPr lang="ru-RU" dirty="0" err="1"/>
              <a:t>которыи</a:t>
            </a:r>
            <a:r>
              <a:rPr lang="ru-RU" dirty="0"/>
              <a:t>̆ является частью коллекции или корпуса. Оценка состоит из произведения двух </a:t>
            </a:r>
            <a:r>
              <a:rPr lang="ru-RU" dirty="0" err="1"/>
              <a:t>частеи</a:t>
            </a:r>
            <a:r>
              <a:rPr lang="ru-RU" dirty="0"/>
              <a:t>̆.</a:t>
            </a:r>
          </a:p>
          <a:p>
            <a:pPr algn="just"/>
            <a:r>
              <a:rPr lang="ru-RU" dirty="0"/>
              <a:t>TF (</a:t>
            </a:r>
            <a:r>
              <a:rPr lang="ru-RU" dirty="0" err="1"/>
              <a:t>term</a:t>
            </a:r>
            <a:r>
              <a:rPr lang="ru-RU" dirty="0"/>
              <a:t> </a:t>
            </a:r>
            <a:r>
              <a:rPr lang="ru-RU" dirty="0" err="1"/>
              <a:t>frequency</a:t>
            </a:r>
            <a:r>
              <a:rPr lang="ru-RU" dirty="0"/>
              <a:t>) — частота вхождения термина в документ, отношение числа вхождения слова в документ к общему числу слов в документе.</a:t>
            </a:r>
          </a:p>
          <a:p>
            <a:pPr algn="just"/>
            <a:r>
              <a:rPr lang="ru-RU" dirty="0"/>
              <a:t>IDF (</a:t>
            </a:r>
            <a:r>
              <a:rPr lang="ru-RU" dirty="0" err="1"/>
              <a:t>inverse</a:t>
            </a:r>
            <a:r>
              <a:rPr lang="ru-RU" dirty="0"/>
              <a:t> </a:t>
            </a:r>
            <a:r>
              <a:rPr lang="ru-RU" dirty="0" err="1"/>
              <a:t>document</a:t>
            </a:r>
            <a:r>
              <a:rPr lang="ru-RU" dirty="0"/>
              <a:t> </a:t>
            </a:r>
            <a:r>
              <a:rPr lang="ru-RU" dirty="0" err="1"/>
              <a:t>frequency</a:t>
            </a:r>
            <a:r>
              <a:rPr lang="ru-RU" dirty="0"/>
              <a:t>) — инверсия частоты, с </a:t>
            </a:r>
            <a:r>
              <a:rPr lang="ru-RU" dirty="0" err="1"/>
              <a:t>которои</a:t>
            </a:r>
            <a:r>
              <a:rPr lang="ru-RU" dirty="0"/>
              <a:t>̆ некоторое слово встречается в документах коллекции.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7C70F-C28F-2B9D-BE35-DBB663F775D3}"/>
              </a:ext>
            </a:extLst>
          </p:cNvPr>
          <p:cNvSpPr txBox="1"/>
          <p:nvPr/>
        </p:nvSpPr>
        <p:spPr>
          <a:xfrm>
            <a:off x="74645" y="5199399"/>
            <a:ext cx="118032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Fedra Sans Pro"/>
              </a:rPr>
              <a:t>Модели, основанные на мешке слов и TF-IDF, были популярны и активно развивались примерно до 2014 г., когда появились векторные представления слов. В современном мире описанные частотные подходы применяются в качестве дополнения 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Fedra Sans Pro"/>
              </a:rPr>
              <a:t>трансформерным</a:t>
            </a:r>
            <a:r>
              <a:rPr lang="ru-RU" b="0" i="0" dirty="0">
                <a:solidFill>
                  <a:srgbClr val="000000"/>
                </a:solidFill>
                <a:effectLst/>
                <a:latin typeface="Fedra Sans Pro"/>
              </a:rPr>
              <a:t> моделям. Кроме того, некоторые подходы применяются при ранжировании документов на первом этапе, когда необходимо отфильтровать и выбрать наиболее подходящие к запросам документы для дальнейшего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Fedra Sans Pro"/>
              </a:rPr>
              <a:t>реранжирования</a:t>
            </a:r>
            <a:r>
              <a:rPr lang="ru-RU" b="0" i="0" dirty="0">
                <a:solidFill>
                  <a:srgbClr val="000000"/>
                </a:solidFill>
                <a:effectLst/>
                <a:latin typeface="Fedra Sans Pro"/>
              </a:rPr>
              <a:t> более сложными моделями.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84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6C504-1D07-C842-9DBC-175E0C10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519C840-5D45-716F-1DD1-C3759D5D7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54" y="509428"/>
            <a:ext cx="8514860" cy="501651"/>
          </a:xfrm>
        </p:spPr>
        <p:txBody>
          <a:bodyPr anchor="b">
            <a:normAutofit/>
          </a:bodyPr>
          <a:lstStyle/>
          <a:p>
            <a:r>
              <a:rPr lang="ru-RU" b="0" dirty="0"/>
              <a:t>Векторное представление</a:t>
            </a:r>
            <a:endParaRPr lang="en-US" b="0" dirty="0"/>
          </a:p>
        </p:txBody>
      </p:sp>
      <p:pic>
        <p:nvPicPr>
          <p:cNvPr id="8194" name="Picture 2" descr="Изображение выглядит как текст, снимок экрана, Красочность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E4B91F-6FD6-D3BA-3A45-4C5EAACF9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61417" y="2402983"/>
            <a:ext cx="6172200" cy="2561463"/>
          </a:xfrm>
          <a:prstGeom prst="rect">
            <a:avLst/>
          </a:prstGeom>
          <a:solidFill>
            <a:srgbClr val="FFFFFF"/>
          </a:solidFill>
          <a:extLst/>
        </p:spPr>
      </p:pic>
      <p:sp>
        <p:nvSpPr>
          <p:cNvPr id="8199" name="Text Placeholder 3">
            <a:extLst>
              <a:ext uri="{FF2B5EF4-FFF2-40B4-BE49-F238E27FC236}">
                <a16:creationId xmlns:a16="http://schemas.microsoft.com/office/drawing/2014/main" id="{D4789762-CBA0-8701-F8B6-590B912A0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383" y="1777920"/>
            <a:ext cx="3932237" cy="3811588"/>
          </a:xfrm>
        </p:spPr>
        <p:txBody>
          <a:bodyPr/>
          <a:lstStyle/>
          <a:p>
            <a:r>
              <a:rPr lang="ru-RU" dirty="0"/>
              <a:t>Обучение представлений может облегчить передачу знаний по нескольким задачам NLP с разными степенями детализации и нескольким областям применения, а также значительно повысить эффективность, надежность и обобщающую способность модели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072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8231-D882-0A5D-02E2-6BF91DE8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4BC84CB-42D0-6C69-BE91-BD39CA2D5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54" y="509428"/>
            <a:ext cx="8514860" cy="501651"/>
          </a:xfrm>
        </p:spPr>
        <p:txBody>
          <a:bodyPr anchor="b">
            <a:normAutofit/>
          </a:bodyPr>
          <a:lstStyle/>
          <a:p>
            <a:r>
              <a:rPr lang="ru-RU" b="0" dirty="0"/>
              <a:t>Векторное представление</a:t>
            </a:r>
            <a:endParaRPr lang="en-US" b="0" dirty="0"/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1ED0017E-61AA-4215-D6E0-1743CC64D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0588" y="1306286"/>
            <a:ext cx="11420669" cy="5355771"/>
          </a:xfrm>
        </p:spPr>
        <p:txBody>
          <a:bodyPr>
            <a:normAutofit/>
          </a:bodyPr>
          <a:lstStyle/>
          <a:p>
            <a:r>
              <a:rPr lang="ru-RU" dirty="0"/>
              <a:t>Если рассматривать историю развития NLP, к 2020 г. появилось достаточно много </a:t>
            </a:r>
            <a:r>
              <a:rPr lang="ru-RU" dirty="0" err="1"/>
              <a:t>нейросетеи</a:t>
            </a:r>
            <a:r>
              <a:rPr lang="ru-RU" dirty="0"/>
              <a:t>̆, каждая из которых решает свою задачу лучше, чем человек (или хотя бы на том же уровне, что и человек). Оценить качество работы </a:t>
            </a:r>
            <a:r>
              <a:rPr lang="ru-RU" dirty="0" err="1"/>
              <a:t>нейросетевых</a:t>
            </a:r>
            <a:r>
              <a:rPr lang="ru-RU" dirty="0"/>
              <a:t> решений можно проанализировав следующие факты для русского языка:</a:t>
            </a:r>
          </a:p>
          <a:p>
            <a:r>
              <a:rPr lang="ru-RU" dirty="0"/>
              <a:t>●  Модель исправления опечаток Yandex </a:t>
            </a:r>
            <a:r>
              <a:rPr lang="ru-RU" dirty="0" err="1"/>
              <a:t>Speller</a:t>
            </a:r>
            <a:r>
              <a:rPr lang="ru-RU" dirty="0"/>
              <a:t> делает 69,5 % правильных изменений</a:t>
            </a:r>
          </a:p>
          <a:p>
            <a:br>
              <a:rPr lang="ru-RU" dirty="0"/>
            </a:br>
            <a:r>
              <a:rPr lang="ru-RU" dirty="0"/>
              <a:t>●  Модели </a:t>
            </a:r>
            <a:r>
              <a:rPr lang="ru-RU" dirty="0" err="1"/>
              <a:t>DeepPavlov</a:t>
            </a:r>
            <a:r>
              <a:rPr lang="ru-RU" dirty="0"/>
              <a:t>:</a:t>
            </a:r>
          </a:p>
          <a:p>
            <a:r>
              <a:rPr lang="ru-RU" dirty="0"/>
              <a:t>○  классификация эмоций — 72,2 % правильных ответов</a:t>
            </a:r>
            <a:br>
              <a:rPr lang="ru-RU" dirty="0"/>
            </a:br>
            <a:r>
              <a:rPr lang="ru-RU" dirty="0"/>
              <a:t>○  вопросно-ответная система — 84,6 % правильных ответов</a:t>
            </a:r>
            <a:br>
              <a:rPr lang="ru-RU" dirty="0"/>
            </a:br>
            <a:r>
              <a:rPr lang="ru-RU" dirty="0"/>
              <a:t>○  извлечение информации — компании, локации и т. д. — 98,1 % правильных ответов</a:t>
            </a:r>
          </a:p>
          <a:p>
            <a:br>
              <a:rPr lang="ru-RU" dirty="0"/>
            </a:br>
            <a:r>
              <a:rPr lang="ru-RU" dirty="0"/>
              <a:t>●  </a:t>
            </a:r>
            <a:r>
              <a:rPr lang="ru-RU" dirty="0" err="1"/>
              <a:t>Edinburgh</a:t>
            </a:r>
            <a:r>
              <a:rPr lang="ru-RU" dirty="0"/>
              <a:t> </a:t>
            </a:r>
            <a:r>
              <a:rPr lang="ru-RU" dirty="0" err="1"/>
              <a:t>Neural</a:t>
            </a:r>
            <a:r>
              <a:rPr lang="ru-RU" dirty="0"/>
              <a:t> Machine Translation представил решение автоперевода с </a:t>
            </a:r>
            <a:r>
              <a:rPr lang="ru-RU" dirty="0" err="1"/>
              <a:t>английского</a:t>
            </a:r>
            <a:r>
              <a:rPr lang="ru-RU" dirty="0"/>
              <a:t> языка на </a:t>
            </a:r>
            <a:r>
              <a:rPr lang="ru-RU" dirty="0" err="1"/>
              <a:t>русскии</a:t>
            </a:r>
            <a:r>
              <a:rPr lang="ru-RU" dirty="0"/>
              <a:t>̆ с 26 % несовпадения с эталонным переводом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931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30E2-2235-56C8-7A11-7342D728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7908833-5F5B-F5E6-9D2A-70389897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54" y="509428"/>
            <a:ext cx="8514860" cy="501651"/>
          </a:xfrm>
        </p:spPr>
        <p:txBody>
          <a:bodyPr anchor="b">
            <a:normAutofit/>
          </a:bodyPr>
          <a:lstStyle/>
          <a:p>
            <a:r>
              <a:rPr lang="ru-RU" b="0" dirty="0"/>
              <a:t>Векторное представление</a:t>
            </a:r>
            <a:endParaRPr lang="en-US" b="0" dirty="0"/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4F6A8528-681D-065D-4E03-7BC9E0700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0588" y="1306286"/>
            <a:ext cx="11420669" cy="5355771"/>
          </a:xfrm>
        </p:spPr>
        <p:txBody>
          <a:bodyPr>
            <a:normAutofit/>
          </a:bodyPr>
          <a:lstStyle/>
          <a:p>
            <a:r>
              <a:rPr lang="ru-RU" dirty="0"/>
              <a:t>Обучение представлений для слов</a:t>
            </a:r>
          </a:p>
          <a:p>
            <a:r>
              <a:rPr lang="ru-RU" dirty="0"/>
              <a:t>Однако упомянутые выше модели хорошо справляются каждая с </a:t>
            </a:r>
            <a:r>
              <a:rPr lang="ru-RU" dirty="0" err="1"/>
              <a:t>конкретнои</a:t>
            </a:r>
            <a:r>
              <a:rPr lang="ru-RU" dirty="0"/>
              <a:t>̆ </a:t>
            </a:r>
            <a:r>
              <a:rPr lang="ru-RU" dirty="0" err="1"/>
              <a:t>задачеи</a:t>
            </a:r>
            <a:r>
              <a:rPr lang="ru-RU" dirty="0"/>
              <a:t>̆, а количество параметров этих </a:t>
            </a:r>
            <a:r>
              <a:rPr lang="ru-RU" dirty="0" err="1"/>
              <a:t>моделеи</a:t>
            </a:r>
            <a:r>
              <a:rPr lang="ru-RU" dirty="0"/>
              <a:t>̆ таково, что их обучение — очень </a:t>
            </a:r>
            <a:r>
              <a:rPr lang="ru-RU" dirty="0" err="1"/>
              <a:t>ресурсоемкии</a:t>
            </a:r>
            <a:r>
              <a:rPr lang="ru-RU" dirty="0"/>
              <a:t>̆ и финансово </a:t>
            </a:r>
            <a:r>
              <a:rPr lang="ru-RU" dirty="0" err="1"/>
              <a:t>затратныи</a:t>
            </a:r>
            <a:r>
              <a:rPr lang="ru-RU" dirty="0"/>
              <a:t>̆ процесс. Поэтому тенденция обучения представлений для решения большого числа задач стала набирать популярность. </a:t>
            </a:r>
          </a:p>
          <a:p>
            <a:endParaRPr lang="ru-RU" dirty="0"/>
          </a:p>
          <a:p>
            <a:r>
              <a:rPr lang="ru-RU" dirty="0"/>
              <a:t>Модель GPT-3 обучалась на 570 </a:t>
            </a:r>
            <a:r>
              <a:rPr lang="ru-RU" dirty="0" err="1"/>
              <a:t>гигабайтах</a:t>
            </a:r>
            <a:r>
              <a:rPr lang="ru-RU" dirty="0"/>
              <a:t> текстов и тестировалась на 42 разных навыках без обучения или на </a:t>
            </a:r>
            <a:r>
              <a:rPr lang="ru-RU" dirty="0" err="1"/>
              <a:t>few-shot</a:t>
            </a:r>
            <a:r>
              <a:rPr lang="ru-RU" dirty="0"/>
              <a:t> </a:t>
            </a:r>
            <a:r>
              <a:rPr lang="ru-RU" dirty="0" err="1"/>
              <a:t>learning</a:t>
            </a:r>
            <a:r>
              <a:rPr lang="ru-RU" dirty="0"/>
              <a:t> (модели подавался на вход текст и начало ответа). В итоге средняя точность </a:t>
            </a:r>
            <a:r>
              <a:rPr lang="ru-RU" dirty="0" err="1"/>
              <a:t>самои</a:t>
            </a:r>
            <a:r>
              <a:rPr lang="ru-RU" dirty="0"/>
              <a:t>̆ </a:t>
            </a:r>
            <a:r>
              <a:rPr lang="ru-RU" dirty="0" err="1"/>
              <a:t>большои</a:t>
            </a:r>
            <a:r>
              <a:rPr lang="ru-RU" dirty="0"/>
              <a:t>̆ модели составила 60 % по всем заданиям. Представления </a:t>
            </a:r>
            <a:r>
              <a:rPr lang="ru-RU" dirty="0" err="1"/>
              <a:t>даннои</a:t>
            </a:r>
            <a:r>
              <a:rPr lang="ru-RU" dirty="0"/>
              <a:t>̆ </a:t>
            </a:r>
            <a:r>
              <a:rPr lang="ru-RU" dirty="0" err="1"/>
              <a:t>нейросети</a:t>
            </a:r>
            <a:r>
              <a:rPr lang="ru-RU" dirty="0"/>
              <a:t> широко используются для векторизации документов для </a:t>
            </a:r>
            <a:r>
              <a:rPr lang="ru-RU" dirty="0" err="1"/>
              <a:t>последующеи</a:t>
            </a:r>
            <a:r>
              <a:rPr lang="ru-RU" dirty="0"/>
              <a:t>̆ работы с ними.</a:t>
            </a:r>
          </a:p>
          <a:p>
            <a:br>
              <a:rPr lang="ru-RU" dirty="0"/>
            </a:br>
            <a:r>
              <a:rPr lang="ru-RU" dirty="0"/>
              <a:t>Кроме того, с развитием NLP-области усложнялись и модели получения векторных представлений текстов. 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7128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EAE0-D9E3-6FB3-7076-D85F8AF59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C4EEEBC-E3BA-2974-3CD1-6B36AF30E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54" y="509428"/>
            <a:ext cx="8514860" cy="501651"/>
          </a:xfrm>
        </p:spPr>
        <p:txBody>
          <a:bodyPr anchor="b">
            <a:normAutofit/>
          </a:bodyPr>
          <a:lstStyle/>
          <a:p>
            <a:r>
              <a:rPr lang="ru-RU" b="0" dirty="0"/>
              <a:t>Векторное представление</a:t>
            </a:r>
            <a:endParaRPr lang="en-US" b="0" dirty="0"/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6C9FA959-E2F4-E4B8-EAA5-2BA216A38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0588" y="1306286"/>
            <a:ext cx="11420669" cy="5355771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ru-RU" b="1" dirty="0"/>
              <a:t>Модели, основанные на частоте появления слов</a:t>
            </a:r>
            <a:br>
              <a:rPr lang="ru-RU" dirty="0"/>
            </a:br>
            <a:r>
              <a:rPr lang="ru-RU" dirty="0"/>
              <a:t>К ним относятся разобранные ранее мешок слов и TF-IDF. При множестве разнообразных слов в документах их представлениями будут разреженные матрицы, что сильно увеличивает вычислительную сложность при </a:t>
            </a:r>
            <a:r>
              <a:rPr lang="ru-RU" dirty="0" err="1"/>
              <a:t>дальнейшеи</a:t>
            </a:r>
            <a:r>
              <a:rPr lang="ru-RU" dirty="0"/>
              <a:t>̆ работе с ними. Они также не учитывают порядок слов и их семантическую неоднозначность.</a:t>
            </a:r>
          </a:p>
          <a:p>
            <a:pPr marL="342900" indent="-342900">
              <a:buAutoNum type="arabicPeriod"/>
            </a:pPr>
            <a:endParaRPr lang="ru-RU" dirty="0"/>
          </a:p>
          <a:p>
            <a:endParaRPr lang="ru-RU" dirty="0"/>
          </a:p>
          <a:p>
            <a:r>
              <a:rPr lang="ru-RU" b="1" dirty="0"/>
              <a:t>2. Модели, основанные на прогнозировании (word2vec, </a:t>
            </a:r>
            <a:r>
              <a:rPr lang="ru-RU" b="1" dirty="0" err="1"/>
              <a:t>glove</a:t>
            </a:r>
            <a:r>
              <a:rPr lang="ru-RU" b="1" dirty="0"/>
              <a:t>)</a:t>
            </a:r>
            <a:br>
              <a:rPr lang="ru-RU" dirty="0"/>
            </a:br>
            <a:r>
              <a:rPr lang="ru-RU" dirty="0"/>
              <a:t>В данных моделях уже не возникает разреженных матриц огромных размеров. Они принимают на вход </a:t>
            </a:r>
            <a:r>
              <a:rPr lang="ru-RU" dirty="0" err="1"/>
              <a:t>большои</a:t>
            </a:r>
            <a:r>
              <a:rPr lang="ru-RU" dirty="0"/>
              <a:t>̆ </a:t>
            </a:r>
            <a:r>
              <a:rPr lang="ru-RU" dirty="0" err="1"/>
              <a:t>текстовыи</a:t>
            </a:r>
            <a:r>
              <a:rPr lang="ru-RU" dirty="0"/>
              <a:t>̆ корпус и сопоставляют каждому слову вектор. Сначала создается словарь, а затем вычисляется векторное представление слов. В основе методов, основанных на прогнозировании, лежит </a:t>
            </a:r>
            <a:r>
              <a:rPr lang="ru-RU" dirty="0" err="1"/>
              <a:t>нейронная</a:t>
            </a:r>
            <a:r>
              <a:rPr lang="ru-RU" dirty="0"/>
              <a:t> сеть с одним скрытым слоем, которая формирует N-мерное представление каждого слова, т. е. вектор слова.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4434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12D22-CBA2-1811-3309-30E8E2C5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F8D6477-95D7-2478-3528-0DE56D66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9" y="642938"/>
            <a:ext cx="5729286" cy="344486"/>
          </a:xfrm>
        </p:spPr>
        <p:txBody>
          <a:bodyPr anchor="b">
            <a:normAutofit/>
          </a:bodyPr>
          <a:lstStyle/>
          <a:p>
            <a:r>
              <a:rPr lang="en-US" dirty="0"/>
              <a:t>W</a:t>
            </a:r>
            <a:r>
              <a:rPr lang="ru-RU" dirty="0"/>
              <a:t>ord2vec</a:t>
            </a:r>
            <a:endParaRPr lang="en-US" b="0" dirty="0"/>
          </a:p>
        </p:txBody>
      </p:sp>
      <p:pic>
        <p:nvPicPr>
          <p:cNvPr id="9227" name="Picture 11" descr="Изображение выглядит как текст, Шрифт, белый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154761-9230-956E-D4B1-C683072EE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8584" y="2194561"/>
            <a:ext cx="6172200" cy="1234439"/>
          </a:xfrm>
          <a:prstGeom prst="rect">
            <a:avLst/>
          </a:prstGeom>
          <a:solidFill>
            <a:srgbClr val="FFFFFF"/>
          </a:solidFill>
          <a:extLst/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45E8BD1C-1E61-10D0-EFF8-94F183716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Векторное представление основывается на </a:t>
            </a:r>
            <a:r>
              <a:rPr lang="ru-RU" dirty="0" err="1"/>
              <a:t>контекстнои</a:t>
            </a:r>
            <a:r>
              <a:rPr lang="ru-RU" dirty="0"/>
              <a:t>̆ близости: слова, встречающиеся в тексте рядом с одинаковыми словами (а следовательно, имеющие </a:t>
            </a:r>
            <a:r>
              <a:rPr lang="ru-RU" dirty="0" err="1"/>
              <a:t>схожии</a:t>
            </a:r>
            <a:r>
              <a:rPr lang="ru-RU" dirty="0"/>
              <a:t>̆ смысл), в векторном представлении имеют высокое </a:t>
            </a:r>
            <a:r>
              <a:rPr lang="ru-RU" i="1" dirty="0"/>
              <a:t>косинусное сходство</a:t>
            </a:r>
            <a:r>
              <a:rPr lang="ru-RU" dirty="0"/>
              <a:t>:</a:t>
            </a:r>
          </a:p>
        </p:txBody>
      </p:sp>
      <p:pic>
        <p:nvPicPr>
          <p:cNvPr id="9229" name="Picture 13">
            <a:extLst>
              <a:ext uri="{FF2B5EF4-FFF2-40B4-BE49-F238E27FC236}">
                <a16:creationId xmlns:a16="http://schemas.microsoft.com/office/drawing/2014/main" id="{CDDE1188-7C51-61A6-E344-41B6E9E94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584" y="3628442"/>
            <a:ext cx="3932238" cy="41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73AF2C-7D29-D182-2F9C-40B08A0F995B}"/>
              </a:ext>
            </a:extLst>
          </p:cNvPr>
          <p:cNvSpPr txBox="1"/>
          <p:nvPr/>
        </p:nvSpPr>
        <p:spPr>
          <a:xfrm>
            <a:off x="4893939" y="4244729"/>
            <a:ext cx="6321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Fedra Sans Pro"/>
              </a:rPr>
              <a:t>некоторые векторные представления слов, θ — угол между представлениями 𝑒</a:t>
            </a:r>
            <a:r>
              <a:rPr lang="ru-RU" b="0" i="0" baseline="-25000" dirty="0">
                <a:solidFill>
                  <a:srgbClr val="000000"/>
                </a:solidFill>
                <a:effectLst/>
                <a:latin typeface="Fedra Sans Pro"/>
              </a:rPr>
              <a:t>𝑖</a:t>
            </a:r>
            <a:r>
              <a:rPr lang="ru-RU" b="0" i="0" dirty="0">
                <a:solidFill>
                  <a:srgbClr val="000000"/>
                </a:solidFill>
                <a:effectLst/>
                <a:latin typeface="Fedra Sans Pro"/>
              </a:rPr>
              <a:t> и 𝑒</a:t>
            </a:r>
            <a:r>
              <a:rPr lang="ru-RU" b="0" i="0" baseline="-25000" dirty="0">
                <a:solidFill>
                  <a:srgbClr val="000000"/>
                </a:solidFill>
                <a:effectLst/>
                <a:latin typeface="Fedra Sans Pro"/>
              </a:rPr>
              <a:t>𝑗</a:t>
            </a:r>
            <a:r>
              <a:rPr lang="ru-RU" b="0" i="0" dirty="0">
                <a:solidFill>
                  <a:srgbClr val="000000"/>
                </a:solidFill>
                <a:effectLst/>
                <a:latin typeface="Fedra Sans Pro"/>
              </a:rPr>
              <a:t>.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7DFCA-0460-CD42-B5BA-2794048AAF7C}"/>
              </a:ext>
            </a:extLst>
          </p:cNvPr>
          <p:cNvSpPr txBox="1"/>
          <p:nvPr/>
        </p:nvSpPr>
        <p:spPr>
          <a:xfrm>
            <a:off x="646728" y="5138974"/>
            <a:ext cx="109937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0" i="0" dirty="0">
                <a:solidFill>
                  <a:srgbClr val="002060"/>
                </a:solidFill>
                <a:effectLst/>
                <a:latin typeface="Fedra Sans Pro"/>
              </a:rPr>
              <a:t>Таким образом, в результате операции </a:t>
            </a:r>
            <a:r>
              <a:rPr lang="ru-RU" b="0" i="1" dirty="0" err="1">
                <a:solidFill>
                  <a:srgbClr val="002060"/>
                </a:solidFill>
                <a:effectLst/>
                <a:latin typeface="Fedra Sans Pro"/>
              </a:rPr>
              <a:t>vector_from_word</a:t>
            </a:r>
            <a:r>
              <a:rPr lang="ru-RU" b="0" i="1" dirty="0">
                <a:solidFill>
                  <a:srgbClr val="002060"/>
                </a:solidFill>
                <a:effectLst/>
                <a:latin typeface="Fedra Sans Pro"/>
              </a:rPr>
              <a:t>(</a:t>
            </a:r>
            <a:r>
              <a:rPr lang="ru-RU" b="0" i="1" dirty="0" err="1">
                <a:solidFill>
                  <a:srgbClr val="002060"/>
                </a:solidFill>
                <a:effectLst/>
                <a:latin typeface="Fedra Sans Pro"/>
              </a:rPr>
              <a:t>king</a:t>
            </a:r>
            <a:r>
              <a:rPr lang="ru-RU" b="0" i="1" dirty="0">
                <a:solidFill>
                  <a:srgbClr val="002060"/>
                </a:solidFill>
                <a:effectLst/>
                <a:latin typeface="Fedra Sans Pro"/>
              </a:rPr>
              <a:t>) – </a:t>
            </a:r>
            <a:r>
              <a:rPr lang="ru-RU" b="0" i="1" dirty="0" err="1">
                <a:solidFill>
                  <a:srgbClr val="002060"/>
                </a:solidFill>
                <a:effectLst/>
                <a:latin typeface="Fedra Sans Pro"/>
              </a:rPr>
              <a:t>vector_from_word</a:t>
            </a:r>
            <a:r>
              <a:rPr lang="ru-RU" b="0" i="1" dirty="0">
                <a:solidFill>
                  <a:srgbClr val="002060"/>
                </a:solidFill>
                <a:effectLst/>
                <a:latin typeface="Fedra Sans Pro"/>
              </a:rPr>
              <a:t>(</a:t>
            </a:r>
            <a:r>
              <a:rPr lang="ru-RU" b="0" i="1" dirty="0" err="1">
                <a:solidFill>
                  <a:srgbClr val="002060"/>
                </a:solidFill>
                <a:effectLst/>
                <a:latin typeface="Fedra Sans Pro"/>
              </a:rPr>
              <a:t>man</a:t>
            </a:r>
            <a:r>
              <a:rPr lang="ru-RU" b="0" i="1" dirty="0">
                <a:solidFill>
                  <a:srgbClr val="002060"/>
                </a:solidFill>
                <a:effectLst/>
                <a:latin typeface="Fedra Sans Pro"/>
              </a:rPr>
              <a:t>) + </a:t>
            </a:r>
            <a:r>
              <a:rPr lang="ru-RU" b="0" i="1" dirty="0" err="1">
                <a:solidFill>
                  <a:srgbClr val="002060"/>
                </a:solidFill>
                <a:effectLst/>
                <a:latin typeface="Fedra Sans Pro"/>
              </a:rPr>
              <a:t>vector_from_word</a:t>
            </a:r>
            <a:r>
              <a:rPr lang="ru-RU" b="0" i="1" dirty="0">
                <a:solidFill>
                  <a:srgbClr val="002060"/>
                </a:solidFill>
                <a:effectLst/>
                <a:latin typeface="Fedra Sans Pro"/>
              </a:rPr>
              <a:t>(</a:t>
            </a:r>
            <a:r>
              <a:rPr lang="ru-RU" b="0" i="1" dirty="0" err="1">
                <a:solidFill>
                  <a:srgbClr val="002060"/>
                </a:solidFill>
                <a:effectLst/>
                <a:latin typeface="Fedra Sans Pro"/>
              </a:rPr>
              <a:t>woman</a:t>
            </a:r>
            <a:r>
              <a:rPr lang="ru-RU" b="0" i="1" dirty="0">
                <a:solidFill>
                  <a:srgbClr val="002060"/>
                </a:solidFill>
                <a:effectLst/>
                <a:latin typeface="Fedra Sans Pro"/>
              </a:rPr>
              <a:t>)</a:t>
            </a:r>
            <a:r>
              <a:rPr lang="ru-RU" b="0" i="0" dirty="0">
                <a:solidFill>
                  <a:srgbClr val="002060"/>
                </a:solidFill>
                <a:effectLst/>
                <a:latin typeface="Fedra Sans Pro"/>
              </a:rPr>
              <a:t> получается вектор, </a:t>
            </a:r>
            <a:r>
              <a:rPr lang="ru-RU" b="0" i="0" dirty="0" err="1">
                <a:solidFill>
                  <a:srgbClr val="002060"/>
                </a:solidFill>
                <a:effectLst/>
                <a:latin typeface="Fedra Sans Pro"/>
              </a:rPr>
              <a:t>похожии</a:t>
            </a:r>
            <a:r>
              <a:rPr lang="ru-RU" b="0" i="0" dirty="0">
                <a:solidFill>
                  <a:srgbClr val="002060"/>
                </a:solidFill>
                <a:effectLst/>
                <a:latin typeface="Fedra Sans Pro"/>
              </a:rPr>
              <a:t>̆ на вектор для слова </a:t>
            </a:r>
            <a:r>
              <a:rPr lang="ru-RU" b="0" i="0" dirty="0" err="1">
                <a:solidFill>
                  <a:srgbClr val="002060"/>
                </a:solidFill>
                <a:effectLst/>
                <a:latin typeface="Fedra Sans Pro"/>
              </a:rPr>
              <a:t>queen</a:t>
            </a:r>
            <a:r>
              <a:rPr lang="ru-RU" b="0" i="0" dirty="0">
                <a:solidFill>
                  <a:srgbClr val="002060"/>
                </a:solidFill>
                <a:effectLst/>
                <a:latin typeface="Fedra Sans Pro"/>
              </a:rPr>
              <a:t>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b="0" i="0" dirty="0">
                <a:solidFill>
                  <a:srgbClr val="002060"/>
                </a:solidFill>
                <a:effectLst/>
                <a:latin typeface="Fedra Sans Pro"/>
              </a:rPr>
              <a:t>Поэтому данные методы особенно хорошо подходят для определения степени сходства слов (например, поиск синонимов или антонимов).</a:t>
            </a:r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671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B17A-6362-239B-7C34-E6DDA5A3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97B14A23-507E-06B2-51E0-8C9D52013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ru-RU" sz="1800" dirty="0"/>
              <a:t>Рассмотрим два основных метода word2vec:</a:t>
            </a:r>
          </a:p>
          <a:p>
            <a:r>
              <a:rPr lang="ru-RU" sz="1800" dirty="0"/>
              <a:t>●  </a:t>
            </a:r>
            <a:r>
              <a:rPr lang="ru-RU" sz="1800" b="1" dirty="0" err="1"/>
              <a:t>Непрерывныи</a:t>
            </a:r>
            <a:r>
              <a:rPr lang="ru-RU" sz="1800" b="1" dirty="0"/>
              <a:t>̆ мешок слов (</a:t>
            </a:r>
            <a:r>
              <a:rPr lang="ru-RU" sz="1800" b="1" dirty="0" err="1"/>
              <a:t>Continuous</a:t>
            </a:r>
            <a:r>
              <a:rPr lang="ru-RU" sz="1800" b="1" dirty="0"/>
              <a:t> </a:t>
            </a:r>
            <a:r>
              <a:rPr lang="ru-RU" sz="1800" b="1" dirty="0" err="1"/>
              <a:t>Bag</a:t>
            </a:r>
            <a:r>
              <a:rPr lang="ru-RU" sz="1800" b="1" dirty="0"/>
              <a:t> </a:t>
            </a:r>
            <a:r>
              <a:rPr lang="ru-RU" sz="1800" b="1" dirty="0" err="1"/>
              <a:t>of</a:t>
            </a:r>
            <a:r>
              <a:rPr lang="ru-RU" sz="1800" b="1" dirty="0"/>
              <a:t> </a:t>
            </a:r>
            <a:r>
              <a:rPr lang="ru-RU" sz="1800" b="1" dirty="0" err="1"/>
              <a:t>Words</a:t>
            </a:r>
            <a:r>
              <a:rPr lang="ru-RU" sz="1800" b="1" dirty="0"/>
              <a:t>, CBOW)</a:t>
            </a:r>
            <a:r>
              <a:rPr lang="ru-RU" sz="1800" dirty="0"/>
              <a:t> — подход, </a:t>
            </a:r>
            <a:r>
              <a:rPr lang="ru-RU" sz="1800" dirty="0" err="1"/>
              <a:t>которыи</a:t>
            </a:r>
            <a:r>
              <a:rPr lang="ru-RU" sz="1800" dirty="0"/>
              <a:t>̆ предсказывает текущее слово, исходя из окружающего его контекста. Под контекстом подразумеваются слова из окружения конкретного слова; количество окружающих слов определяется размером контекстного окна</a:t>
            </a:r>
          </a:p>
          <a:p>
            <a:r>
              <a:rPr lang="ru-RU" sz="1800" dirty="0"/>
              <a:t>●  </a:t>
            </a:r>
            <a:r>
              <a:rPr lang="ru-RU" sz="1800" b="1" dirty="0" err="1"/>
              <a:t>Skip-gram</a:t>
            </a:r>
            <a:r>
              <a:rPr lang="ru-RU" sz="1800" dirty="0"/>
              <a:t> — </a:t>
            </a:r>
            <a:r>
              <a:rPr lang="ru-RU" sz="1800" dirty="0" err="1"/>
              <a:t>действует</a:t>
            </a:r>
            <a:r>
              <a:rPr lang="ru-RU" sz="1800" dirty="0"/>
              <a:t> аналогично CBOW, но в обратном направлении: по слову предсказывается его </a:t>
            </a:r>
            <a:r>
              <a:rPr lang="ru-RU" sz="1800" dirty="0" err="1"/>
              <a:t>возможныи</a:t>
            </a:r>
            <a:r>
              <a:rPr lang="ru-RU" sz="1800" dirty="0"/>
              <a:t>̆ контекст 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3EFB6032-9A0F-5E7E-BFDB-B9688D141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3800" y="1945767"/>
            <a:ext cx="5181600" cy="2966465"/>
          </a:xfrm>
          <a:prstGeom prst="rect">
            <a:avLst/>
          </a:prstGeom>
          <a:solidFill>
            <a:srgbClr val="FFFFFF"/>
          </a:solidFill>
          <a:extLst/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2ACAB54-84F0-4FD2-B736-EFF1E657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5" y="565413"/>
            <a:ext cx="10391775" cy="377403"/>
          </a:xfrm>
        </p:spPr>
        <p:txBody>
          <a:bodyPr>
            <a:normAutofit/>
          </a:bodyPr>
          <a:lstStyle/>
          <a:p>
            <a:r>
              <a:rPr lang="en-US" dirty="0"/>
              <a:t>W</a:t>
            </a:r>
            <a:r>
              <a:rPr lang="ru-RU" dirty="0"/>
              <a:t>ord2vec</a:t>
            </a:r>
            <a:endParaRPr lang="en-US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EE90C-46AD-7245-255F-D28DA7DC46A3}"/>
              </a:ext>
            </a:extLst>
          </p:cNvPr>
          <p:cNvSpPr txBox="1"/>
          <p:nvPr/>
        </p:nvSpPr>
        <p:spPr>
          <a:xfrm>
            <a:off x="5872480" y="5191658"/>
            <a:ext cx="6319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>
                <a:solidFill>
                  <a:srgbClr val="95A5A6"/>
                </a:solidFill>
                <a:effectLst/>
                <a:latin typeface="Fedra Sans Pro"/>
              </a:rPr>
              <a:t>Схема для модели CBOW (слева) и </a:t>
            </a:r>
            <a:r>
              <a:rPr lang="ru-RU" b="0" i="1" dirty="0" err="1">
                <a:solidFill>
                  <a:srgbClr val="95A5A6"/>
                </a:solidFill>
                <a:effectLst/>
                <a:latin typeface="Fedra Sans Pro"/>
              </a:rPr>
              <a:t>Skip-gram</a:t>
            </a:r>
            <a:r>
              <a:rPr lang="ru-RU" b="0" i="1" dirty="0">
                <a:solidFill>
                  <a:srgbClr val="95A5A6"/>
                </a:solidFill>
                <a:effectLst/>
                <a:latin typeface="Fedra Sans Pro"/>
              </a:rPr>
              <a:t> (справа). Для обеих архитектур w(t) — некоторое слово, w(t – 2), w(t – 1), w(t + 1) и w(t + 2) — контекст слова w(t), в данном примере размер контекстного окна равен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4367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77C6BE81-2319-EAE7-8B6B-D48169796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087947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Недостатком word2vec является то, что с его помощью нельзя получить представления слов, не встречающихся в </a:t>
            </a:r>
            <a:r>
              <a:rPr lang="ru-RU" dirty="0" err="1"/>
              <a:t>обучающеи</a:t>
            </a:r>
            <a:r>
              <a:rPr lang="ru-RU" dirty="0"/>
              <a:t>̆ выборке. Решить эту проблему можно с помощью </a:t>
            </a:r>
            <a:r>
              <a:rPr lang="ru-RU" b="1" dirty="0" err="1">
                <a:hlinkClick r:id="rId2"/>
              </a:rPr>
              <a:t>fastText</a:t>
            </a:r>
            <a:r>
              <a:rPr lang="ru-RU" dirty="0"/>
              <a:t>, </a:t>
            </a:r>
            <a:r>
              <a:rPr lang="ru-RU" dirty="0" err="1"/>
              <a:t>которыи</a:t>
            </a:r>
            <a:r>
              <a:rPr lang="ru-RU" dirty="0"/>
              <a:t>̆ использует N-грамм символов.</a:t>
            </a:r>
          </a:p>
          <a:p>
            <a:r>
              <a:rPr lang="ru-RU" dirty="0"/>
              <a:t> Например, 3-граммы для слова </a:t>
            </a:r>
            <a:r>
              <a:rPr lang="ru-RU" i="1" dirty="0"/>
              <a:t>яблоко</a:t>
            </a:r>
            <a:r>
              <a:rPr lang="ru-RU" dirty="0"/>
              <a:t> выглядят так: </a:t>
            </a:r>
            <a:r>
              <a:rPr lang="ru-RU" i="1" dirty="0" err="1"/>
              <a:t>ябл</a:t>
            </a:r>
            <a:r>
              <a:rPr lang="ru-RU" i="1" dirty="0"/>
              <a:t>, </a:t>
            </a:r>
            <a:r>
              <a:rPr lang="ru-RU" i="1" dirty="0" err="1"/>
              <a:t>бло</a:t>
            </a:r>
            <a:r>
              <a:rPr lang="ru-RU" i="1" dirty="0"/>
              <a:t>, </a:t>
            </a:r>
            <a:r>
              <a:rPr lang="ru-RU" i="1" dirty="0" err="1"/>
              <a:t>лок</a:t>
            </a:r>
            <a:r>
              <a:rPr lang="ru-RU" i="1" dirty="0"/>
              <a:t>, око.</a:t>
            </a:r>
            <a:r>
              <a:rPr lang="ru-RU" dirty="0"/>
              <a:t> Модель </a:t>
            </a:r>
            <a:r>
              <a:rPr lang="ru-RU" dirty="0" err="1"/>
              <a:t>fastText</a:t>
            </a:r>
            <a:r>
              <a:rPr lang="ru-RU" dirty="0"/>
              <a:t> строит векторные представления N-грамм, а векторным представлением слова является сумма векторных представлений всех его N-грамм. </a:t>
            </a:r>
          </a:p>
          <a:p>
            <a:r>
              <a:rPr lang="ru-RU" dirty="0"/>
              <a:t>Части слов с </a:t>
            </a:r>
            <a:r>
              <a:rPr lang="ru-RU" dirty="0" err="1"/>
              <a:t>большои</a:t>
            </a:r>
            <a:r>
              <a:rPr lang="ru-RU" dirty="0"/>
              <a:t>̆ вероятностью встречаются и в других словах, что позволяет выдавать векторные представления и для редких слов.</a:t>
            </a:r>
          </a:p>
          <a:p>
            <a:r>
              <a:rPr lang="ru-RU" dirty="0"/>
              <a:t>Однако все предыдущие подходы не учитывают семантическую неоднозначность слов.</a:t>
            </a:r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9BB9ABA-6CC4-3581-E7AE-86255B447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263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ABC83-81E3-53E3-C311-405A29BD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105E749-3BAA-141E-85C6-C6EFBF79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9" y="642938"/>
            <a:ext cx="5729286" cy="344486"/>
          </a:xfrm>
        </p:spPr>
        <p:txBody>
          <a:bodyPr anchor="b">
            <a:normAutofit/>
          </a:bodyPr>
          <a:lstStyle/>
          <a:p>
            <a:r>
              <a:rPr lang="ru-RU" u="sng" dirty="0" err="1"/>
              <a:t>GloVe</a:t>
            </a:r>
            <a:endParaRPr lang="ru-RU" b="1" kern="1200" dirty="0"/>
          </a:p>
        </p:txBody>
      </p:sp>
      <p:pic>
        <p:nvPicPr>
          <p:cNvPr id="14338" name="Picture 2" descr="Изображение выглядит как снимок экрана, прямоуго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B07331-BFF7-B911-81DF-4C968E01B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83188" y="2274665"/>
            <a:ext cx="6172200" cy="229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1639DDFC-B19C-8AE5-1B6B-1AB44C8F9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5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ru-RU" sz="1600" dirty="0" err="1">
                <a:solidFill>
                  <a:srgbClr val="595959"/>
                </a:solidFill>
              </a:rPr>
              <a:t>Рассмотренныи</a:t>
            </a:r>
            <a:r>
              <a:rPr lang="ru-RU" sz="1600" dirty="0">
                <a:solidFill>
                  <a:srgbClr val="595959"/>
                </a:solidFill>
              </a:rPr>
              <a:t>̆ в предыдущем пункте word2vec опирается только на локальную статистику, т. е. на локальную информацию о контексте. </a:t>
            </a:r>
            <a:endParaRPr lang="en-US" sz="1600" dirty="0">
              <a:solidFill>
                <a:srgbClr val="595959"/>
              </a:solidFill>
            </a:endParaRPr>
          </a:p>
          <a:p>
            <a:pPr marL="0" lvl="5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ru-RU" sz="1600" dirty="0">
                <a:solidFill>
                  <a:srgbClr val="595959"/>
                </a:solidFill>
              </a:rPr>
              <a:t>В отличие от word2vec </a:t>
            </a:r>
            <a:r>
              <a:rPr lang="ru-RU" sz="1600" u="sng" dirty="0" err="1">
                <a:solidFill>
                  <a:srgbClr val="595959"/>
                </a:solidFill>
              </a:rPr>
              <a:t>GloVe</a:t>
            </a:r>
            <a:r>
              <a:rPr lang="ru-RU" sz="1600" dirty="0">
                <a:solidFill>
                  <a:srgbClr val="595959"/>
                </a:solidFill>
              </a:rPr>
              <a:t> использует еще и глобальную информацию о возможных контекстах конкретного слова.</a:t>
            </a:r>
            <a:endParaRPr lang="en-US" sz="1600" dirty="0">
              <a:solidFill>
                <a:srgbClr val="595959"/>
              </a:solidFill>
            </a:endParaRPr>
          </a:p>
          <a:p>
            <a:pPr marL="0" lvl="5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ru-RU" sz="1600" dirty="0">
                <a:solidFill>
                  <a:srgbClr val="595959"/>
                </a:solidFill>
              </a:rPr>
              <a:t> Сначала строится </a:t>
            </a:r>
            <a:r>
              <a:rPr lang="ru-RU" sz="1600" u="sng" dirty="0">
                <a:solidFill>
                  <a:srgbClr val="595959"/>
                </a:solidFill>
              </a:rPr>
              <a:t>матрица совпадения слов</a:t>
            </a:r>
            <a:r>
              <a:rPr lang="ru-RU" sz="1600" dirty="0">
                <a:solidFill>
                  <a:srgbClr val="595959"/>
                </a:solidFill>
              </a:rPr>
              <a:t>: если количество уникальных слов в выборке равно V, то матрица совпадения слов X имеет размер </a:t>
            </a:r>
            <a:r>
              <a:rPr lang="ru-RU" sz="1600" dirty="0" err="1">
                <a:solidFill>
                  <a:srgbClr val="595959"/>
                </a:solidFill>
              </a:rPr>
              <a:t>VxV</a:t>
            </a:r>
            <a:r>
              <a:rPr lang="ru-RU" sz="1600" dirty="0">
                <a:solidFill>
                  <a:srgbClr val="595959"/>
                </a:solidFill>
              </a:rPr>
              <a:t>. </a:t>
            </a:r>
            <a:endParaRPr lang="en-US" sz="1600" dirty="0">
              <a:solidFill>
                <a:srgbClr val="595959"/>
              </a:solidFill>
            </a:endParaRPr>
          </a:p>
          <a:p>
            <a:pPr marL="0" lvl="5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ru-RU" sz="1600" dirty="0">
                <a:solidFill>
                  <a:srgbClr val="595959"/>
                </a:solidFill>
              </a:rPr>
              <a:t>Элемент </a:t>
            </a:r>
            <a:r>
              <a:rPr lang="ru-RU" sz="1600" dirty="0" err="1">
                <a:solidFill>
                  <a:srgbClr val="595959"/>
                </a:solidFill>
              </a:rPr>
              <a:t>этои</a:t>
            </a:r>
            <a:r>
              <a:rPr lang="ru-RU" sz="1600" dirty="0">
                <a:solidFill>
                  <a:srgbClr val="595959"/>
                </a:solidFill>
              </a:rPr>
              <a:t>̆ матрицы 𝑋</a:t>
            </a:r>
            <a:r>
              <a:rPr lang="ru-RU" sz="1600" baseline="-25000" dirty="0">
                <a:solidFill>
                  <a:srgbClr val="595959"/>
                </a:solidFill>
              </a:rPr>
              <a:t>𝑖𝑗</a:t>
            </a:r>
            <a:r>
              <a:rPr lang="ru-RU" sz="1600" dirty="0">
                <a:solidFill>
                  <a:srgbClr val="595959"/>
                </a:solidFill>
              </a:rPr>
              <a:t> — количество раз, когда слово на строке i идет рядом со словом из строки j.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2D8FB-F93B-1A3D-6B74-E0BED1547EA2}"/>
              </a:ext>
            </a:extLst>
          </p:cNvPr>
          <p:cNvSpPr txBox="1"/>
          <p:nvPr/>
        </p:nvSpPr>
        <p:spPr>
          <a:xfrm>
            <a:off x="5365251" y="4796490"/>
            <a:ext cx="6321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>
                <a:solidFill>
                  <a:srgbClr val="95A5A6"/>
                </a:solidFill>
                <a:effectLst/>
                <a:latin typeface="Fedra Sans Pro"/>
              </a:rPr>
              <a:t>Матрица совпадения слов для предложения: „The </a:t>
            </a:r>
            <a:r>
              <a:rPr lang="ru-RU" b="0" i="1" dirty="0" err="1">
                <a:solidFill>
                  <a:srgbClr val="95A5A6"/>
                </a:solidFill>
                <a:effectLst/>
                <a:latin typeface="Fedra Sans Pro"/>
              </a:rPr>
              <a:t>cat</a:t>
            </a:r>
            <a:r>
              <a:rPr lang="ru-RU" b="0" i="1" dirty="0">
                <a:solidFill>
                  <a:srgbClr val="95A5A6"/>
                </a:solidFill>
                <a:effectLst/>
                <a:latin typeface="Fedra Sans Pro"/>
              </a:rPr>
              <a:t> </a:t>
            </a:r>
            <a:r>
              <a:rPr lang="ru-RU" b="0" i="1" dirty="0" err="1">
                <a:solidFill>
                  <a:srgbClr val="95A5A6"/>
                </a:solidFill>
                <a:effectLst/>
                <a:latin typeface="Fedra Sans Pro"/>
              </a:rPr>
              <a:t>sat</a:t>
            </a:r>
            <a:r>
              <a:rPr lang="ru-RU" b="0" i="1" dirty="0">
                <a:solidFill>
                  <a:srgbClr val="95A5A6"/>
                </a:solidFill>
                <a:effectLst/>
                <a:latin typeface="Fedra Sans Pro"/>
              </a:rPr>
              <a:t> </a:t>
            </a:r>
            <a:r>
              <a:rPr lang="ru-RU" b="0" i="1" dirty="0" err="1">
                <a:solidFill>
                  <a:srgbClr val="95A5A6"/>
                </a:solidFill>
                <a:effectLst/>
                <a:latin typeface="Fedra Sans Pro"/>
              </a:rPr>
              <a:t>on</a:t>
            </a:r>
            <a:r>
              <a:rPr lang="ru-RU" b="0" i="1" dirty="0">
                <a:solidFill>
                  <a:srgbClr val="95A5A6"/>
                </a:solidFill>
                <a:effectLst/>
                <a:latin typeface="Fedra Sans Pro"/>
              </a:rPr>
              <a:t> </a:t>
            </a:r>
            <a:r>
              <a:rPr lang="ru-RU" b="0" i="1" dirty="0" err="1">
                <a:solidFill>
                  <a:srgbClr val="95A5A6"/>
                </a:solidFill>
                <a:effectLst/>
                <a:latin typeface="Fedra Sans Pro"/>
              </a:rPr>
              <a:t>the</a:t>
            </a:r>
            <a:r>
              <a:rPr lang="ru-RU" b="0" i="1" dirty="0">
                <a:solidFill>
                  <a:srgbClr val="95A5A6"/>
                </a:solidFill>
                <a:effectLst/>
                <a:latin typeface="Fedra Sans Pro"/>
              </a:rPr>
              <a:t> </a:t>
            </a:r>
            <a:r>
              <a:rPr lang="ru-RU" b="0" i="1" dirty="0" err="1">
                <a:solidFill>
                  <a:srgbClr val="95A5A6"/>
                </a:solidFill>
                <a:effectLst/>
                <a:latin typeface="Fedra Sans Pro"/>
              </a:rPr>
              <a:t>mat</a:t>
            </a:r>
            <a:r>
              <a:rPr lang="ru-RU" b="0" i="1" dirty="0">
                <a:solidFill>
                  <a:srgbClr val="95A5A6"/>
                </a:solidFill>
                <a:effectLst/>
                <a:latin typeface="Fedra Sans Pro"/>
              </a:rPr>
              <a:t>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138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1378-40CF-1960-7885-DAA0F0AC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err="1"/>
              <a:t>GloVe</a:t>
            </a:r>
            <a:endParaRPr lang="ru-RU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2B2980D-3710-4226-E29B-8FBD95ED7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45" y="1228397"/>
            <a:ext cx="1187985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Введем обозначение вероятности появления слов вместе: пусть 𝑃</a:t>
            </a:r>
            <a:r>
              <a:rPr kumimoji="0" lang="ru-RU" altLang="ru-RU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𝑖𝑗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— вероятность того, что слова 𝑖 и 𝑗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располагаются рядом.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dirty="0">
              <a:solidFill>
                <a:srgbClr val="000000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Тогда  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dirty="0">
              <a:solidFill>
                <a:srgbClr val="000000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           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где 𝑋</a:t>
            </a:r>
            <a:r>
              <a:rPr kumimoji="0" lang="ru-RU" altLang="ru-RU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𝑖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— общее количество упоминаний слова 𝑖 в текстах.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1200" dirty="0">
              <a:solidFill>
                <a:srgbClr val="000000"/>
              </a:solidFill>
              <a:latin typeface="Fedra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Fedra Sans Pro"/>
              </a:rPr>
              <a:t>Основная идея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Fedra Sans Pro"/>
              </a:rPr>
              <a:t>GloVe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Fedra Sans Pro"/>
              </a:rPr>
              <a:t> заключается в выражении отношения слов 𝑖 и 𝑗 через их отношения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Fedra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Fedra Sans Pro"/>
              </a:rPr>
              <a:t>с другим словом k: 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Fedra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  </a:t>
            </a:r>
            <a:r>
              <a:rPr kumimoji="0" lang="ru-RU" altLang="ru-RU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                        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 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            </a:t>
            </a:r>
            <a:endParaRPr kumimoji="0" lang="en-US" altLang="ru-RU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Fedra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1500" dirty="0">
              <a:solidFill>
                <a:srgbClr val="000000"/>
              </a:solidFill>
              <a:latin typeface="Fedra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Fedra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  </a:t>
            </a:r>
            <a:r>
              <a:rPr kumimoji="0" lang="en-US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                      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— вектора слов и   </a:t>
            </a:r>
            <a:r>
              <a:rPr kumimoji="0" lang="ru-RU" altLang="ru-RU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               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— отдельные векторы контекстных слов, a — обучаемая модель.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Fedra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Подробнее про то, как выбирается и обучается модель, можно почитать в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3B883"/>
                </a:solidFill>
                <a:effectLst/>
                <a:latin typeface="FedraSansPro-Demi"/>
                <a:hlinkClick r:id="rId2"/>
              </a:rPr>
              <a:t>статье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edra Sans Pro"/>
              </a:rPr>
              <a:t>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3" name="Picture 3">
            <a:extLst>
              <a:ext uri="{FF2B5EF4-FFF2-40B4-BE49-F238E27FC236}">
                <a16:creationId xmlns:a16="http://schemas.microsoft.com/office/drawing/2014/main" id="{3F632A0E-12A5-5309-E132-EB5D56277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877" y="4045592"/>
            <a:ext cx="3714898" cy="838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4A1DFEED-2894-1273-B817-23D67C689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57" y="5175135"/>
            <a:ext cx="619125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5" name="Picture 5">
            <a:extLst>
              <a:ext uri="{FF2B5EF4-FFF2-40B4-BE49-F238E27FC236}">
                <a16:creationId xmlns:a16="http://schemas.microsoft.com/office/drawing/2014/main" id="{FB29D031-E15C-8479-7B8B-792AFCA7B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839" y="5219781"/>
            <a:ext cx="6000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7DAC41C-7968-2539-2F02-C193F0976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330" y="2287231"/>
            <a:ext cx="1410529" cy="72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507617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Финансовый Университет">
  <a:themeElements>
    <a:clrScheme name="Финансовый Университет">
      <a:dk1>
        <a:sysClr val="windowText" lastClr="000000"/>
      </a:dk1>
      <a:lt1>
        <a:sysClr val="window" lastClr="FFFFFF"/>
      </a:lt1>
      <a:dk2>
        <a:srgbClr val="373545"/>
      </a:dk2>
      <a:lt2>
        <a:srgbClr val="A5A5A5"/>
      </a:lt2>
      <a:accent1>
        <a:srgbClr val="256569"/>
      </a:accent1>
      <a:accent2>
        <a:srgbClr val="AFAFAF"/>
      </a:accent2>
      <a:accent3>
        <a:srgbClr val="5BBFC5"/>
      </a:accent3>
      <a:accent4>
        <a:srgbClr val="7B7B7B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Финансовый Университет" id="{B61C6C59-7E8E-44EC-9D0A-175FD0FD7AA0}" vid="{4B9A828B-7C95-4D9C-8B7B-426AD85F479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Финансовый Университет</Template>
  <TotalTime>1336</TotalTime>
  <Words>1950</Words>
  <Application>Microsoft Office PowerPoint</Application>
  <PresentationFormat>Широкоэкранный</PresentationFormat>
  <Paragraphs>104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Book Antiqua</vt:lpstr>
      <vt:lpstr>Calibri</vt:lpstr>
      <vt:lpstr>Fedra Sans Pro</vt:lpstr>
      <vt:lpstr>FedraSansPro-Demi</vt:lpstr>
      <vt:lpstr>Wingdings</vt:lpstr>
      <vt:lpstr>Шаблон Финансовый Университет</vt:lpstr>
      <vt:lpstr>По материалам Сбер, МПФИ, Тинькофф и др</vt:lpstr>
      <vt:lpstr>NLP</vt:lpstr>
      <vt:lpstr>NLP</vt:lpstr>
      <vt:lpstr>NLP</vt:lpstr>
      <vt:lpstr>NLP</vt:lpstr>
      <vt:lpstr>NLP</vt:lpstr>
      <vt:lpstr>Частотные признаки, TF-IDF</vt:lpstr>
      <vt:lpstr>Частотные признаки, TF-IDF</vt:lpstr>
      <vt:lpstr>Частотные признаки, TF-IDF</vt:lpstr>
      <vt:lpstr>Векторное представление</vt:lpstr>
      <vt:lpstr>Векторное представление</vt:lpstr>
      <vt:lpstr>Векторное представление</vt:lpstr>
      <vt:lpstr>Векторное представление</vt:lpstr>
      <vt:lpstr>Word2vec</vt:lpstr>
      <vt:lpstr>Word2vec</vt:lpstr>
      <vt:lpstr>fastText</vt:lpstr>
      <vt:lpstr>GloVe</vt:lpstr>
      <vt:lpstr>GloVe</vt:lpstr>
    </vt:vector>
  </TitlesOfParts>
  <Company>GUMF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AYVoronina</dc:creator>
  <cp:lastModifiedBy>Никитин Петр Владимирович</cp:lastModifiedBy>
  <cp:revision>34</cp:revision>
  <dcterms:created xsi:type="dcterms:W3CDTF">2018-04-06T11:52:35Z</dcterms:created>
  <dcterms:modified xsi:type="dcterms:W3CDTF">2025-10-04T07:26:34Z</dcterms:modified>
</cp:coreProperties>
</file>