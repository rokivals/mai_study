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8" r:id="rId4"/>
    <p:sldId id="276" r:id="rId5"/>
    <p:sldId id="259" r:id="rId6"/>
    <p:sldId id="277" r:id="rId7"/>
    <p:sldId id="278" r:id="rId8"/>
    <p:sldId id="279" r:id="rId9"/>
    <p:sldId id="272" r:id="rId10"/>
    <p:sldId id="275" r:id="rId11"/>
    <p:sldId id="268" r:id="rId12"/>
    <p:sldId id="270" r:id="rId13"/>
    <p:sldId id="271" r:id="rId14"/>
    <p:sldId id="269" r:id="rId15"/>
    <p:sldId id="266" r:id="rId16"/>
    <p:sldId id="280" r:id="rId17"/>
    <p:sldId id="267" r:id="rId18"/>
    <p:sldId id="274" r:id="rId19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anil Good" initials="DG" lastIdx="3" clrIdx="0"/>
  <p:cmAuthor id="1" name="Пользователь" initials="П" lastIdx="5" clrIdx="1">
    <p:extLst>
      <p:ext uri="{19B8F6BF-5375-455C-9EA6-DF929625EA0E}">
        <p15:presenceInfo xmlns:p15="http://schemas.microsoft.com/office/powerpoint/2012/main" userId="Пользовател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CCFF"/>
    <a:srgbClr val="EF3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commentAuthors" Target="commentAuthor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6-17T19:05:39.166" idx="3">
    <p:pos x="4712" y="1180"/>
    <p:text>Что то странное написано, перечислить след доработки, они есть в дипломе</p:text>
    <p:extLst>
      <p:ext uri="{C676402C-5697-4E1C-873F-D02D1690AC5C}">
        <p15:threadingInfo xmlns:p15="http://schemas.microsoft.com/office/powerpoint/2012/main" timeZoneBias="-180"/>
      </p:ext>
    </p:extLst>
  </p:cm>
  <p:cm authorId="1" dt="2025-06-18T12:04:12.974" idx="5">
    <p:pos x="1228" y="604"/>
    <p:text>На РЯ</p:text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move the slide</a:t>
            </a: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FFFFFF"/>
                </a:solidFill>
                <a:latin typeface="Calibri"/>
              </a:rPr>
              <a:t>Click to edit the notes format</a:t>
            </a:r>
          </a:p>
        </p:txBody>
      </p:sp>
      <p:sp>
        <p:nvSpPr>
          <p:cNvPr id="8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&lt;header&gt;</a:t>
            </a:r>
          </a:p>
        </p:txBody>
      </p:sp>
      <p:sp>
        <p:nvSpPr>
          <p:cNvPr id="89" name="PlaceHolder 4"/>
          <p:cNvSpPr>
            <a:spLocks noGrp="1"/>
          </p:cNvSpPr>
          <p:nvPr>
            <p:ph type="dt" idx="45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90" name="PlaceHolder 5"/>
          <p:cNvSpPr>
            <a:spLocks noGrp="1"/>
          </p:cNvSpPr>
          <p:nvPr>
            <p:ph type="ftr" idx="46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91" name="PlaceHolder 6"/>
          <p:cNvSpPr>
            <a:spLocks noGrp="1"/>
          </p:cNvSpPr>
          <p:nvPr>
            <p:ph type="sldNum" idx="47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r">
              <a:buNone/>
            </a:pPr>
            <a:fld id="{403D5F65-93A7-4A0B-B19B-EF1EE2B8CF02}" type="slidenum">
              <a:rPr lang="en-US" sz="1400" b="0" strike="noStrike" spc="-1">
                <a:solidFill>
                  <a:srgbClr val="FFFFFF"/>
                </a:solidFill>
                <a:latin typeface="Calibri"/>
              </a:rPr>
              <a:t>‹#›</a:t>
            </a:fld>
            <a:endParaRPr lang="en-US" sz="1400" b="0" strike="noStrike" spc="-1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87937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1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400" b="0" strike="noStrike" spc="-1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65BA3AE-E688-4519-9262-51E86BDA7193}" type="slidenum">
              <a:rPr lang="ru" sz="1400" b="0" strike="noStrike" spc="-1">
                <a:solidFill>
                  <a:srgbClr val="000000"/>
                </a:solidFill>
                <a:latin typeface="Arial"/>
                <a:ea typeface="Arial"/>
              </a:rPr>
              <a:t>1</a:t>
            </a:fld>
            <a:endParaRPr lang="en-US" sz="1400" b="0" strike="noStrike" spc="-1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11576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186372-ABA5-4865-9DF8-07E415F723EC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lnSpcReduction="10000"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en-US" sz="12000" b="0" strike="noStrike" spc="-1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lang="en-US" sz="12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47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062E449-884D-422A-BCCC-1E36196AD582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79E21F1-15FF-47A0-A607-6A440C7CC290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buNone/>
            </a:pPr>
            <a:r>
              <a:rPr lang="en-US" sz="36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D6D7671-968D-42BE-8ABA-4EBF774B96AF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C22CDA3-CD36-42A7-B2F5-A886CAF0C61B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4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C884CC69-A4CF-4D94-B24E-A8F57B7CCD72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lnSpcReduction="10000"/>
          </a:bodyPr>
          <a:lstStyle/>
          <a:p>
            <a:pPr indent="0">
              <a:buNone/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6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20477C3-7023-4619-BB6A-2A47165389D6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2500" lnSpcReduction="20000"/>
          </a:bodyPr>
          <a:lstStyle/>
          <a:p>
            <a:pPr indent="0"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32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9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D045E6D-929C-4228-B7F9-E136A1731471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>
              <a:buNone/>
            </a:pPr>
            <a:r>
              <a:rPr lang="en-US" sz="4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1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16528A8-97D5-4020-AEB9-1E3C14E5D84C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400" b="0" strike="noStrike" spc="-1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buNone/>
            </a:pPr>
            <a:r>
              <a:rPr lang="en-US" sz="4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85000" lnSpcReduction="1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5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1132D66-5085-4F2C-BC65-12CBC954A94E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25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7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1000" b="0" strike="noStrike" spc="-1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8BBD85F-37B1-4442-926E-9F8498078945}" type="slidenum">
              <a:rPr lang="ru" sz="1000" b="0" strike="noStrike" spc="-1">
                <a:solidFill>
                  <a:schemeClr val="dk2"/>
                </a:solidFill>
                <a:latin typeface="Arial"/>
                <a:ea typeface="Arial"/>
              </a:rPr>
              <a:t>‹#›</a:t>
            </a:fld>
            <a:endParaRPr lang="en-US" sz="1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/>
          <a:p>
            <a:pPr indent="0"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dt" idx="1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ftr" idx="1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31" name="PlaceHolder 4"/>
          <p:cNvSpPr>
            <a:spLocks noGrp="1"/>
          </p:cNvSpPr>
          <p:nvPr>
            <p:ph type="sldNum" idx="1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1E6D976-7B4E-4F73-B931-75E2D6E681E7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VERTICAL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/>
          <a:p>
            <a:pPr indent="0">
              <a:buNone/>
            </a:pPr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 rot="5400000">
            <a:off x="2940480" y="-942480"/>
            <a:ext cx="3263040" cy="78865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5" name="PlaceHolder 3"/>
          <p:cNvSpPr>
            <a:spLocks noGrp="1"/>
          </p:cNvSpPr>
          <p:nvPr>
            <p:ph type="dt" idx="15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36" name="PlaceHolder 4"/>
          <p:cNvSpPr>
            <a:spLocks noGrp="1"/>
          </p:cNvSpPr>
          <p:nvPr>
            <p:ph type="ftr" idx="16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37" name="PlaceHolder 5"/>
          <p:cNvSpPr>
            <a:spLocks noGrp="1"/>
          </p:cNvSpPr>
          <p:nvPr>
            <p:ph type="sldNum" idx="17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926FAE1-4317-40CC-A792-0BCA46461D24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_TITLE_AND_VERTICAL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 rot="5400000">
            <a:off x="5350320" y="1467360"/>
            <a:ext cx="4358520" cy="19713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/>
          <a:p>
            <a:pPr indent="0">
              <a:buNone/>
            </a:pPr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 rot="5400000">
            <a:off x="1349640" y="-446760"/>
            <a:ext cx="4358520" cy="58003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0" name="PlaceHolder 3"/>
          <p:cNvSpPr>
            <a:spLocks noGrp="1"/>
          </p:cNvSpPr>
          <p:nvPr>
            <p:ph type="dt" idx="18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ftr" idx="19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42" name="PlaceHolder 5"/>
          <p:cNvSpPr>
            <a:spLocks noGrp="1"/>
          </p:cNvSpPr>
          <p:nvPr>
            <p:ph type="sldNum" idx="20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E066EA1-77F8-4164-B0C8-B9CE3C214F3D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BJEC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/>
          <a:p>
            <a:pPr indent="0">
              <a:buNone/>
            </a:pPr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5" name="PlaceHolder 3"/>
          <p:cNvSpPr>
            <a:spLocks noGrp="1"/>
          </p:cNvSpPr>
          <p:nvPr>
            <p:ph type="dt" idx="2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46" name="PlaceHolder 4"/>
          <p:cNvSpPr>
            <a:spLocks noGrp="1"/>
          </p:cNvSpPr>
          <p:nvPr>
            <p:ph type="ftr" idx="2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47" name="PlaceHolder 5"/>
          <p:cNvSpPr>
            <a:spLocks noGrp="1"/>
          </p:cNvSpPr>
          <p:nvPr>
            <p:ph type="sldNum" idx="2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2F3917-8DE9-48CF-9928-896679217181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623880" y="1282320"/>
            <a:ext cx="7886520" cy="21391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/>
          <a:p>
            <a:pPr indent="0">
              <a:buNone/>
            </a:pPr>
            <a:r>
              <a:rPr lang="en-US" sz="45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23880" y="3441960"/>
            <a:ext cx="7886520" cy="11250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4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0" name="PlaceHolder 3"/>
          <p:cNvSpPr>
            <a:spLocks noGrp="1"/>
          </p:cNvSpPr>
          <p:nvPr>
            <p:ph type="dt" idx="24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51" name="PlaceHolder 4"/>
          <p:cNvSpPr>
            <a:spLocks noGrp="1"/>
          </p:cNvSpPr>
          <p:nvPr>
            <p:ph type="ftr" idx="25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52" name="PlaceHolder 5"/>
          <p:cNvSpPr>
            <a:spLocks noGrp="1"/>
          </p:cNvSpPr>
          <p:nvPr>
            <p:ph type="sldNum" idx="26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40284F0-C57F-4739-BDE1-F4EA83401C2B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_OBJECTS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/>
          <a:p>
            <a:pPr indent="0">
              <a:buNone/>
            </a:pPr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77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77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27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57" name="PlaceHolder 5"/>
          <p:cNvSpPr>
            <a:spLocks noGrp="1"/>
          </p:cNvSpPr>
          <p:nvPr>
            <p:ph type="ftr" idx="28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29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6E04B6C-4204-4B5B-8E4A-39D2B9A0C795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WO_OBJECTS_WITH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/>
          <a:p>
            <a:pPr indent="0">
              <a:buNone/>
            </a:pPr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30000" y="1260720"/>
            <a:ext cx="3868200" cy="6177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25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30000" y="1878840"/>
            <a:ext cx="3868200" cy="27633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70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4629240" y="1260720"/>
            <a:ext cx="3886920" cy="6177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 fontScale="250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3" name="PlaceHolder 5"/>
          <p:cNvSpPr>
            <a:spLocks noGrp="1"/>
          </p:cNvSpPr>
          <p:nvPr>
            <p:ph type="body"/>
          </p:nvPr>
        </p:nvSpPr>
        <p:spPr>
          <a:xfrm>
            <a:off x="4629240" y="1878840"/>
            <a:ext cx="3886920" cy="27633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77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1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4" name="PlaceHolder 6"/>
          <p:cNvSpPr>
            <a:spLocks noGrp="1"/>
          </p:cNvSpPr>
          <p:nvPr>
            <p:ph type="dt" idx="3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65" name="PlaceHolder 7"/>
          <p:cNvSpPr>
            <a:spLocks noGrp="1"/>
          </p:cNvSpPr>
          <p:nvPr>
            <p:ph type="ftr" idx="3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66" name="PlaceHolder 8"/>
          <p:cNvSpPr>
            <a:spLocks noGrp="1"/>
          </p:cNvSpPr>
          <p:nvPr>
            <p:ph type="sldNum" idx="3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8B440057-D652-489A-9419-52BB4ECED69A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efault 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rmAutofit/>
          </a:bodyPr>
          <a:lstStyle/>
          <a:p>
            <a:pPr indent="0">
              <a:buNone/>
            </a:pPr>
            <a:r>
              <a:rPr lang="en-US" sz="33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dt" idx="33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ftr" idx="34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sldNum" idx="3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D18F429-E111-4434-A8F9-B1ADF3DEB411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3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dt" idx="36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ftr" idx="37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sldNum" idx="38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D76B38D-8A2A-43DF-B96B-FBCD9188D4CC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BJECT_WITH_CAPTION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/>
          <a:p>
            <a:pPr indent="0"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5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92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6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47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7" name="PlaceHolder 4"/>
          <p:cNvSpPr>
            <a:spLocks noGrp="1"/>
          </p:cNvSpPr>
          <p:nvPr>
            <p:ph type="dt" idx="39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78" name="PlaceHolder 5"/>
          <p:cNvSpPr>
            <a:spLocks noGrp="1"/>
          </p:cNvSpPr>
          <p:nvPr>
            <p:ph type="ftr" idx="40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79" name="PlaceHolder 6"/>
          <p:cNvSpPr>
            <a:spLocks noGrp="1"/>
          </p:cNvSpPr>
          <p:nvPr>
            <p:ph type="sldNum" idx="41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4A658F-8991-4E50-A9B5-2BCF5AA72D5B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_WITH_CAPTION_TEX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/>
          <a:p>
            <a:pPr indent="0">
              <a:buNone/>
            </a:pPr>
            <a:r>
              <a:rPr lang="en-US" sz="2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 fontScale="47500" lnSpcReduction="20000"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3" name="PlaceHolder 4"/>
          <p:cNvSpPr>
            <a:spLocks noGrp="1"/>
          </p:cNvSpPr>
          <p:nvPr>
            <p:ph type="dt" idx="42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&lt;date/time&gt;</a:t>
            </a:r>
          </a:p>
        </p:txBody>
      </p:sp>
      <p:sp>
        <p:nvSpPr>
          <p:cNvPr id="84" name="PlaceHolder 5"/>
          <p:cNvSpPr>
            <a:spLocks noGrp="1"/>
          </p:cNvSpPr>
          <p:nvPr>
            <p:ph type="ftr" idx="43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ctr">
              <a:buNone/>
              <a:defRPr lang="en-US" sz="1400" b="0" strike="noStrike" spc="-1">
                <a:solidFill>
                  <a:srgbClr val="FFFFFF"/>
                </a:solidFill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400" b="0" strike="noStrike" spc="-1">
                <a:solidFill>
                  <a:srgbClr val="FFFFFF"/>
                </a:solidFill>
                <a:latin typeface="Calibri"/>
              </a:rPr>
              <a:t>&lt;footer&gt;</a:t>
            </a:r>
          </a:p>
        </p:txBody>
      </p:sp>
      <p:sp>
        <p:nvSpPr>
          <p:cNvPr id="85" name="PlaceHolder 6"/>
          <p:cNvSpPr>
            <a:spLocks noGrp="1"/>
          </p:cNvSpPr>
          <p:nvPr>
            <p:ph type="sldNum" idx="4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52D786-BFBF-4C0D-A94A-0F19156498AE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‹#›</a:t>
            </a:fld>
            <a:endParaRPr lang="en-US" sz="900" b="0" strike="noStrike" spc="-1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jpe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5.jpg"/><Relationship Id="rId4" Type="http://schemas.openxmlformats.org/officeDocument/2006/relationships/image" Target="../media/image24.jp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astapi.tiangolo.com/" TargetMode="External"/><Relationship Id="rId2" Type="http://schemas.openxmlformats.org/officeDocument/2006/relationships/hyperlink" Target="https://developer.android.com/compose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yandex.ru/maps-api/docs/mapkit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85800" y="1649160"/>
            <a:ext cx="8029080" cy="745384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b">
            <a:normAutofit/>
          </a:bodyPr>
          <a:lstStyle/>
          <a:p>
            <a:pPr algn="ctr">
              <a:tabLst>
                <a:tab pos="0" algn="l"/>
              </a:tabLst>
            </a:pPr>
            <a:r>
              <a:rPr lang="ru" sz="1800" b="0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Выпускная квалификационная работа бакалавра</a:t>
            </a:r>
            <a:r>
              <a:rPr lang="ru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" sz="1800" b="0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 тему:</a:t>
            </a:r>
            <a:r>
              <a:rPr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" sz="1800" b="1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Мобильное приложения для зарядки электромобилей</a:t>
            </a:r>
            <a:r>
              <a:rPr lang="ru-RU" sz="18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en-US" sz="1800" b="0" strike="noStrike" spc="-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subTitle"/>
          </p:nvPr>
        </p:nvSpPr>
        <p:spPr>
          <a:xfrm>
            <a:off x="685800" y="3875040"/>
            <a:ext cx="8029080" cy="9252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t">
            <a:normAutofit/>
          </a:bodyPr>
          <a:lstStyle/>
          <a:p>
            <a:pPr indent="0" algn="r">
              <a:lnSpc>
                <a:spcPct val="90000"/>
              </a:lnSpc>
              <a:buNone/>
              <a:tabLst>
                <a:tab pos="0" algn="l"/>
              </a:tabLst>
            </a:pPr>
            <a:r>
              <a:rPr lang="ru" sz="1400" b="1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Студент группы М8О-406Б-21</a:t>
            </a:r>
            <a:r>
              <a:rPr lang="ru" sz="1400" b="0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</a:t>
            </a:r>
            <a:r>
              <a:rPr lang="ru-RU" sz="1400" b="0" strike="noStrike" spc="-1" dirty="0" err="1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Орусский</a:t>
            </a:r>
            <a:r>
              <a:rPr lang="ru-RU" sz="1400" b="0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В.Р.</a:t>
            </a:r>
            <a:endParaRPr lang="en-US" sz="1400" b="0" strike="noStrike" spc="-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0" algn="r">
              <a:lnSpc>
                <a:spcPct val="90000"/>
              </a:lnSpc>
              <a:spcBef>
                <a:spcPts val="799"/>
              </a:spcBef>
              <a:buNone/>
              <a:tabLst>
                <a:tab pos="0" algn="l"/>
              </a:tabLst>
            </a:pPr>
            <a:r>
              <a:rPr lang="ru" sz="1400" b="1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Научный руководитель</a:t>
            </a:r>
            <a:r>
              <a:rPr lang="ru" sz="1400" b="0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: Бахиркин М. В.</a:t>
            </a:r>
            <a:endParaRPr lang="en-US" sz="1800" b="0" strike="noStrike" spc="-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132;p25"/>
          <p:cNvSpPr/>
          <p:nvPr/>
        </p:nvSpPr>
        <p:spPr>
          <a:xfrm>
            <a:off x="2487960" y="4807080"/>
            <a:ext cx="4167720" cy="23834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68400" tIns="34200" rIns="68400" bIns="34200" anchor="t">
            <a:sp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ru" sz="1100" b="0" strike="noStrike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Москва 202</a:t>
            </a:r>
            <a:r>
              <a:rPr lang="ru" sz="1100" spc="-1" dirty="0">
                <a:solidFill>
                  <a:schemeClr val="bg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5</a:t>
            </a:r>
            <a:endParaRPr lang="en-US" sz="1100" b="0" strike="noStrike" spc="-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34135" y="155879"/>
            <a:ext cx="7723062" cy="8506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</a:t>
            </a:r>
            <a:endParaRPr lang="en-US" sz="12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БЮДЖЕТНОЕ ОБРАЗОВАТЕЛЬНОЕ УЧЕРЕЖДЕНИЕ</a:t>
            </a:r>
          </a:p>
          <a:p>
            <a:pPr algn="ctr"/>
            <a:r>
              <a:rPr lang="ru-RU" sz="12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АВИАЦИОННЫЙ ИНСТИТУТ</a:t>
            </a:r>
          </a:p>
          <a:p>
            <a:pPr algn="ctr"/>
            <a:r>
              <a:rPr lang="ru-RU" sz="12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</a:t>
            </a:r>
          </a:p>
        </p:txBody>
      </p:sp>
      <p:pic>
        <p:nvPicPr>
          <p:cNvPr id="9" name="Рисунок 8" descr="mai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304" y="149039"/>
            <a:ext cx="803605" cy="73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47;p27"/>
          <p:cNvSpPr/>
          <p:nvPr/>
        </p:nvSpPr>
        <p:spPr>
          <a:xfrm>
            <a:off x="411840" y="-70041"/>
            <a:ext cx="8134412" cy="7865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Введение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48;p27"/>
          <p:cNvSpPr/>
          <p:nvPr/>
        </p:nvSpPr>
        <p:spPr>
          <a:xfrm>
            <a:off x="411840" y="1019880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3" name="PlaceHolder 1"/>
          <p:cNvSpPr>
            <a:spLocks noGrp="1"/>
          </p:cNvSpPr>
          <p:nvPr>
            <p:ph type="sldNum" idx="50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2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5" name="Рисунок 4" descr="Мировые продажи электромобилей ..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1183" y="2317237"/>
            <a:ext cx="5202513" cy="258956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411840" y="562911"/>
            <a:ext cx="86582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Рынок электромобилей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растёт с каждым годом, каждому автовладельцу нужно перемещаться из точки А в точку Б.</a:t>
            </a:r>
          </a:p>
          <a:p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 данный момент планирование поездок сопровождается трудностями: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Малый запас хода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Плохо развитое покрытие регионов 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сетью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электрозаправочных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станций</a:t>
            </a:r>
            <a:endParaRPr lang="ru-RU" dirty="0">
              <a:solidFill>
                <a:schemeClr val="bg2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47;p27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Актуальность темы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Google Shape;148;p27"/>
          <p:cNvSpPr/>
          <p:nvPr/>
        </p:nvSpPr>
        <p:spPr>
          <a:xfrm>
            <a:off x="311760" y="724045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457200">
              <a:lnSpc>
                <a:spcPct val="100000"/>
              </a:lnSpc>
              <a:tabLst>
                <a:tab pos="0" algn="l"/>
              </a:tabLst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Roboto Medium"/>
              <a:buChar char="●"/>
              <a:tabLst>
                <a:tab pos="0" algn="l"/>
              </a:tabLst>
            </a:pPr>
            <a:r>
              <a:rPr lang="ru-RU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Активная реализация проектов зелёной энергетики</a:t>
            </a:r>
          </a:p>
          <a:p>
            <a:pPr marL="95400">
              <a:lnSpc>
                <a:spcPct val="100000"/>
              </a:lnSpc>
              <a:buClr>
                <a:srgbClr val="000000"/>
              </a:buClr>
              <a:tabLst>
                <a:tab pos="0" algn="l"/>
              </a:tabLst>
            </a:pPr>
            <a:endParaRPr lang="ru-RU" b="0" strike="noStrike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Roboto Medium"/>
              <a:buChar char="●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Развитие и популяризация рынка электромобилей в мире</a:t>
            </a:r>
            <a:endParaRPr lang="ru-RU" b="0" strike="noStrike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Roboto Medium"/>
              <a:buChar char="●"/>
              <a:tabLst>
                <a:tab pos="0" algn="l"/>
              </a:tabLst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Roboto Medium"/>
              <a:buChar char="●"/>
              <a:tabLst>
                <a:tab pos="0" algn="l"/>
              </a:tabLst>
            </a:pPr>
            <a:r>
              <a:rPr lang="ru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Начало производства собственных электромобилей в России</a:t>
            </a: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Roboto Medium"/>
              <a:buChar char="●"/>
              <a:tabLst>
                <a:tab pos="0" algn="l"/>
              </a:tabLst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361800">
              <a:lnSpc>
                <a:spcPct val="100000"/>
              </a:lnSpc>
              <a:buClr>
                <a:srgbClr val="000000"/>
              </a:buClr>
              <a:buFont typeface="Roboto Medium"/>
              <a:buChar char="●"/>
              <a:tabLst>
                <a:tab pos="0" algn="l"/>
              </a:tabLst>
            </a:pPr>
            <a:r>
              <a:rPr lang="ru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Недоступность или несовершенность аналогов на рынке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3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83579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28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Постановка задачи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55;p28"/>
          <p:cNvSpPr/>
          <p:nvPr/>
        </p:nvSpPr>
        <p:spPr>
          <a:xfrm>
            <a:off x="424453" y="874837"/>
            <a:ext cx="8350560" cy="2137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Создание </a:t>
            </a:r>
            <a:r>
              <a:rPr lang="ru-RU" b="0" strike="noStrike" spc="-1" dirty="0" smtClean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минимально жизнеспособного продукта в виде </a:t>
            </a:r>
            <a:r>
              <a:rPr lang="en-US" b="0" strike="noStrike" spc="-1" dirty="0" smtClean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Android</a:t>
            </a:r>
            <a:r>
              <a:rPr lang="ru-RU" spc="-1" dirty="0" smtClean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приложения для планирования маршрутов на электромобилях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ru-RU" b="0" strike="noStrike" spc="-1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Планирование дальнейших улучшений для развития проекта</a:t>
            </a: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51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C5C6DA-5AA9-477C-ACF9-4028154F4226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4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4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28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Шаги решения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55;p28"/>
          <p:cNvSpPr/>
          <p:nvPr/>
        </p:nvSpPr>
        <p:spPr>
          <a:xfrm>
            <a:off x="424453" y="874837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Сбор предварительной информации о видах электромобилей на рынке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Получение информации о существующих сетях </a:t>
            </a:r>
            <a:r>
              <a:rPr lang="ru-RU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электрозаправочных</a:t>
            </a: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станций</a:t>
            </a:r>
            <a:r>
              <a:rPr lang="ru-RU" sz="1800" b="0" strike="noStrike" spc="-1" dirty="0" smtClean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и их локациях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Разработка серверной части приложения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Разработка алгоритма построения маршрута через </a:t>
            </a:r>
            <a:r>
              <a:rPr lang="ru-RU" dirty="0" err="1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электрозаправочные</a:t>
            </a:r>
            <a:r>
              <a:rPr lang="ru-RU" dirty="0" smtClean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станции</a:t>
            </a:r>
            <a:endParaRPr lang="ru-RU" dirty="0">
              <a:solidFill>
                <a:schemeClr val="bg2"/>
              </a:solidFill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pc="-1" dirty="0" smtClean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Разработка 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клиентской части приложения для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Android</a:t>
            </a: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106" name="PlaceHolder 1"/>
          <p:cNvSpPr>
            <a:spLocks noGrp="1"/>
          </p:cNvSpPr>
          <p:nvPr>
            <p:ph type="sldNum" idx="429496729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C5C6DA-5AA9-477C-ACF9-4028154F4226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5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5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61846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28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рынка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55;p28"/>
          <p:cNvSpPr/>
          <p:nvPr/>
        </p:nvSpPr>
        <p:spPr>
          <a:xfrm>
            <a:off x="424453" y="874837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На рынке существуют решения с подобным функционалом, однако все популярные на данный момент продукты имеют следующие недостатки: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Ограниченность доступа для рынка РФ – необходимо использование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VPN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или иностранных учётных записей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Неактуальность и ограниченность данных для российского рынка</a:t>
            </a:r>
            <a:endParaRPr lang="ru-RU" sz="1800" b="0" strike="noStrike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429496729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C5C6DA-5AA9-477C-ACF9-4028154F4226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6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6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7436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28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Развертывание. </a:t>
            </a:r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Docker Compose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55;p28"/>
          <p:cNvSpPr/>
          <p:nvPr/>
        </p:nvSpPr>
        <p:spPr>
          <a:xfrm>
            <a:off x="424453" y="874837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На этапе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MVP 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для развертывания серверной части приложения было принято решение использовать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Docker 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и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Docker Compose 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для управления </a:t>
            </a:r>
            <a:r>
              <a:rPr lang="ru-RU" spc="-1" dirty="0" err="1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многоконтейнерными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приложениями. Это обеспечивает отказоустойчивость и масштабируемость. </a:t>
            </a:r>
            <a:endParaRPr lang="ru-RU" sz="1800" b="0" strike="noStrike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429496729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C5C6DA-5AA9-477C-ACF9-4028154F4226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7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373" y="3453879"/>
            <a:ext cx="1930495" cy="1288359"/>
          </a:xfrm>
          <a:prstGeom prst="rect">
            <a:avLst/>
          </a:prstGeom>
        </p:spPr>
      </p:pic>
      <p:pic>
        <p:nvPicPr>
          <p:cNvPr id="1028" name="Picture 4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480" y="3642183"/>
            <a:ext cx="1620893" cy="911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7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7526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28"/>
          <p:cNvSpPr/>
          <p:nvPr/>
        </p:nvSpPr>
        <p:spPr>
          <a:xfrm>
            <a:off x="311760" y="-183263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Стек используемых технологий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55;p28"/>
          <p:cNvSpPr/>
          <p:nvPr/>
        </p:nvSpPr>
        <p:spPr>
          <a:xfrm>
            <a:off x="424453" y="874837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 dirty="0">
              <a:solidFill>
                <a:schemeClr val="dk2"/>
              </a:solidFill>
              <a:latin typeface="Roboto Medium"/>
              <a:ea typeface="Roboto Medium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429496729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C5C6DA-5AA9-477C-ACF9-4028154F4226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8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186883" y="632357"/>
            <a:ext cx="180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Серверная часть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122" y="1138045"/>
            <a:ext cx="776421" cy="582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72024" y="1236713"/>
            <a:ext cx="2140330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ЯП 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3.13.3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GeoPandas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PostgreSQL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SQLAlchemy</a:t>
            </a:r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0" name="Picture 6" descr="Picture backgroun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014" y="2684486"/>
            <a:ext cx="1470864" cy="827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QLAlchem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413" y="3430459"/>
            <a:ext cx="1838112" cy="38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452" y="2315048"/>
            <a:ext cx="1615780" cy="47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7703" y="1782473"/>
            <a:ext cx="880955" cy="44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8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1965" y="598464"/>
            <a:ext cx="21058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Клиентская часть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81014" y="2225626"/>
            <a:ext cx="1066849" cy="651409"/>
          </a:xfrm>
          <a:prstGeom prst="rect">
            <a:avLst/>
          </a:prstGeom>
        </p:spPr>
      </p:pic>
      <p:pic>
        <p:nvPicPr>
          <p:cNvPr id="18" name="Picture 4" descr="Picture background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7428" y="1655429"/>
            <a:ext cx="605562" cy="654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8" descr="Picture background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8420" y="2808108"/>
            <a:ext cx="1220112" cy="58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0" descr="Picture background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485" y="1057285"/>
            <a:ext cx="719448" cy="719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5258897" y="1212786"/>
            <a:ext cx="203773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ЯП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Kotlin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JetpackCompose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Retrofit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Yandex</a:t>
            </a: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MapKit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92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54;p28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Наполнение данными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55;p28"/>
          <p:cNvSpPr/>
          <p:nvPr/>
        </p:nvSpPr>
        <p:spPr>
          <a:xfrm>
            <a:off x="424453" y="874837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endParaRPr lang="ru-RU" sz="1800" b="0" strike="noStrike" spc="-1" dirty="0">
              <a:solidFill>
                <a:schemeClr val="dk2"/>
              </a:solidFill>
              <a:latin typeface="Roboto Medium"/>
              <a:ea typeface="Roboto Medium"/>
            </a:endParaRPr>
          </a:p>
        </p:txBody>
      </p:sp>
      <p:sp>
        <p:nvSpPr>
          <p:cNvPr id="106" name="PlaceHolder 1"/>
          <p:cNvSpPr>
            <a:spLocks noGrp="1"/>
          </p:cNvSpPr>
          <p:nvPr>
            <p:ph type="sldNum" idx="429496729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4C5C6DA-5AA9-477C-ACF9-4028154F4226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9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4398" y="1022502"/>
            <a:ext cx="628650" cy="62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9407" y="1646681"/>
            <a:ext cx="2238633" cy="6027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524" y="1209372"/>
            <a:ext cx="28415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OpenChargeMap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Яндекс Карты</a:t>
            </a:r>
            <a:endParaRPr lang="en-US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 Vehicle Database</a:t>
            </a:r>
            <a:endParaRPr lang="ru-RU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4" cstate="print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0247" y="2282784"/>
            <a:ext cx="2513954" cy="503557"/>
          </a:xfrm>
          <a:prstGeom prst="rect">
            <a:avLst/>
          </a:prstGeom>
        </p:spPr>
      </p:pic>
      <p:sp>
        <p:nvSpPr>
          <p:cNvPr id="13" name="PlaceHolder 1"/>
          <p:cNvSpPr>
            <a:spLocks noGrp="1"/>
          </p:cNvSpPr>
          <p:nvPr>
            <p:ph type="sldNum" idx="4294967295"/>
          </p:nvPr>
        </p:nvSpPr>
        <p:spPr>
          <a:xfrm>
            <a:off x="8762400" y="4770000"/>
            <a:ext cx="27072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9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038471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70;p30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Схемы баз данных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437" y="1019520"/>
            <a:ext cx="2684487" cy="1789658"/>
          </a:xfrm>
          <a:prstGeom prst="rect">
            <a:avLst/>
          </a:prstGeom>
        </p:spPr>
      </p:pic>
      <p:pic>
        <p:nvPicPr>
          <p:cNvPr id="14" name="Рисунок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934" y="1019520"/>
            <a:ext cx="3221384" cy="1789658"/>
          </a:xfrm>
          <a:prstGeom prst="rect">
            <a:avLst/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167" y="2948276"/>
            <a:ext cx="2617305" cy="2026733"/>
          </a:xfrm>
          <a:prstGeom prst="rect">
            <a:avLst/>
          </a:prstGeom>
        </p:spPr>
      </p:pic>
      <p:sp>
        <p:nvSpPr>
          <p:cNvPr id="7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10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67196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70;p30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Архитектура серверной части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38" y="1019520"/>
            <a:ext cx="8301963" cy="3317796"/>
          </a:xfrm>
          <a:prstGeom prst="rect">
            <a:avLst/>
          </a:prstGeom>
        </p:spPr>
      </p:pic>
      <p:sp>
        <p:nvSpPr>
          <p:cNvPr id="5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11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7045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70;p30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Навигация мобильного приложения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95" y="1019520"/>
            <a:ext cx="8629650" cy="3595688"/>
          </a:xfrm>
          <a:prstGeom prst="rect">
            <a:avLst/>
          </a:prstGeom>
        </p:spPr>
      </p:pic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12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47795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82;p31"/>
          <p:cNvSpPr/>
          <p:nvPr/>
        </p:nvSpPr>
        <p:spPr>
          <a:xfrm>
            <a:off x="311760" y="-684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Реализованные экраны приложения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67" y="1012680"/>
            <a:ext cx="1789329" cy="365869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148" y="1012680"/>
            <a:ext cx="1805020" cy="365869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020" y="1012680"/>
            <a:ext cx="1805019" cy="3658692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8891" y="1012679"/>
            <a:ext cx="1843963" cy="3763089"/>
          </a:xfrm>
          <a:prstGeom prst="rect">
            <a:avLst/>
          </a:prstGeom>
        </p:spPr>
      </p:pic>
      <p:sp>
        <p:nvSpPr>
          <p:cNvPr id="8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13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455213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32;p35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" sz="28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Roboto"/>
                <a:cs typeface="Times New Roman" panose="02020603050405020304" pitchFamily="18" charset="0"/>
              </a:rPr>
              <a:t>Результаты работы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234;p35"/>
          <p:cNvSpPr/>
          <p:nvPr/>
        </p:nvSpPr>
        <p:spPr>
          <a:xfrm>
            <a:off x="396540" y="1293840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Спроектирована архитектура приложения</a:t>
            </a:r>
            <a:endParaRPr lang="en-US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Реализованы серверная и клиентская части</a:t>
            </a:r>
            <a:endParaRPr lang="ru" sz="1800" b="0" strike="noStrike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z="1800" b="0" strike="noStrike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Подготовлены к развёртыванию образы в сетевой инфраструктуре</a:t>
            </a:r>
            <a:endParaRPr lang="en-US" sz="1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Подготовлены планы по развитию и улучшению продукта</a:t>
            </a:r>
          </a:p>
        </p:txBody>
      </p:sp>
      <p:sp>
        <p:nvSpPr>
          <p:cNvPr id="5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14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32;p35"/>
          <p:cNvSpPr/>
          <p:nvPr/>
        </p:nvSpPr>
        <p:spPr>
          <a:xfrm>
            <a:off x="311760" y="0"/>
            <a:ext cx="8520120" cy="1019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Перспективы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6" name="Google Shape;234;p35"/>
          <p:cNvSpPr/>
          <p:nvPr/>
        </p:nvSpPr>
        <p:spPr>
          <a:xfrm>
            <a:off x="396540" y="1293840"/>
            <a:ext cx="8350560" cy="374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Добавление личного кабинета пользователя;</a:t>
            </a: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Добавление подсказок поиска географических адресов</a:t>
            </a: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Увеличение базы сведений об ЭЗС</a:t>
            </a: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Добавление расчёта маршрута с учётом выбранного пользователем остатка заряда</a:t>
            </a: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Добавление функционала обновления информации об ЭЗС пользователем</a:t>
            </a:r>
            <a:endParaRPr lang="ru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15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52006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39;p36"/>
          <p:cNvSpPr/>
          <p:nvPr/>
        </p:nvSpPr>
        <p:spPr>
          <a:xfrm>
            <a:off x="248697" y="80792"/>
            <a:ext cx="8520120" cy="6852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QR-</a:t>
            </a: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код на </a:t>
            </a:r>
            <a:r>
              <a:rPr lang="ru-RU" sz="2800" b="1" spc="-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репозиторий</a:t>
            </a: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64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83A4BE-754C-4132-8A1E-338023F7EC5C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16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070" y="919350"/>
            <a:ext cx="3177375" cy="3177375"/>
          </a:xfrm>
          <a:prstGeom prst="rect">
            <a:avLst/>
          </a:prstGeom>
        </p:spPr>
      </p:pic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16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39;p36"/>
          <p:cNvSpPr/>
          <p:nvPr/>
        </p:nvSpPr>
        <p:spPr>
          <a:xfrm>
            <a:off x="248697" y="80792"/>
            <a:ext cx="8520120" cy="68529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ru-RU" sz="28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Список использованных источников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4294967295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ru" sz="900" b="0" strike="noStrike" spc="-1">
                <a:solidFill>
                  <a:schemeClr val="lt1"/>
                </a:solidFill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1F83A4BE-754C-4132-8A1E-338023F7EC5C}" type="slidenum">
              <a:rPr lang="ru" sz="900" b="0" strike="noStrike" spc="-1">
                <a:solidFill>
                  <a:schemeClr val="lt1"/>
                </a:solidFill>
                <a:latin typeface="Calibri"/>
                <a:ea typeface="Calibri"/>
              </a:rPr>
              <a:t>17</a:t>
            </a:fld>
            <a:endParaRPr lang="en-US" sz="9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573865" y="948229"/>
            <a:ext cx="8194952" cy="20108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Jetpack Compose documentation – URL: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https://developer.android.com/compose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дата обращения: 01.05.2025)</a:t>
            </a:r>
            <a:endParaRPr lang="en-US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en-US" spc="-1" dirty="0" err="1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FastApi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documentation – URL: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  <a:hlinkClick r:id="rId3"/>
              </a:rPr>
              <a:t>https://fastapi.tiangolo.com/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(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дата обращения: 10.04.2025)</a:t>
            </a:r>
            <a:endParaRPr lang="ru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  <a:p>
            <a:pPr marL="914400" indent="-26388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Roboto Medium"/>
              <a:buAutoNum type="arabicPeriod"/>
              <a:tabLst>
                <a:tab pos="0" algn="l"/>
              </a:tabLst>
            </a:pPr>
            <a:r>
              <a:rPr lang="en-US" spc="-1" dirty="0" err="1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Yandex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</a:t>
            </a:r>
            <a:r>
              <a:rPr lang="en-US" spc="-1" dirty="0" err="1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MapKit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documentation – URL: 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  <a:hlinkClick r:id="rId4"/>
              </a:rPr>
              <a:t>https://yandex.ru/maps-api/docs/mapkit/index.html</a:t>
            </a:r>
            <a:r>
              <a:rPr lang="en-US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 (</a:t>
            </a:r>
            <a:r>
              <a:rPr lang="ru-RU" spc="-1" dirty="0">
                <a:solidFill>
                  <a:schemeClr val="dk2"/>
                </a:solidFill>
                <a:latin typeface="Times New Roman" panose="02020603050405020304" pitchFamily="18" charset="0"/>
                <a:ea typeface="Roboto Medium"/>
                <a:cs typeface="Times New Roman" panose="02020603050405020304" pitchFamily="18" charset="0"/>
              </a:rPr>
              <a:t>дата обращения: 04.05.2025)</a:t>
            </a:r>
            <a:endParaRPr lang="ru" spc="-1" dirty="0">
              <a:solidFill>
                <a:schemeClr val="dk2"/>
              </a:solidFill>
              <a:latin typeface="Times New Roman" panose="02020603050405020304" pitchFamily="18" charset="0"/>
              <a:ea typeface="Roboto Medium"/>
              <a:cs typeface="Times New Roman" panose="02020603050405020304" pitchFamily="18" charset="0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4294967295"/>
          </p:nvPr>
        </p:nvSpPr>
        <p:spPr>
          <a:xfrm>
            <a:off x="8705850" y="4770000"/>
            <a:ext cx="327270" cy="273600"/>
          </a:xfrm>
          <a:prstGeom prst="rect">
            <a:avLst/>
          </a:prstGeom>
          <a:noFill/>
          <a:ln w="0">
            <a:noFill/>
          </a:ln>
        </p:spPr>
        <p:txBody>
          <a:bodyPr lIns="68400" tIns="34200" rIns="68400" bIns="342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" sz="1200" b="0" strike="noStrike" spc="-1">
                <a:solidFill>
                  <a:schemeClr val="dk2"/>
                </a:solidFill>
                <a:highlight>
                  <a:srgbClr val="FFFFFF"/>
                </a:highlight>
                <a:latin typeface="Roboto Medium"/>
                <a:ea typeface="Roboto Medium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ru" dirty="0"/>
              <a:t>17</a:t>
            </a:r>
            <a:endParaRPr lang="en-US" sz="12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9559010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Другая 1">
      <a:dk1>
        <a:srgbClr val="0095DA"/>
      </a:dk1>
      <a:lt1>
        <a:srgbClr val="FFFFFF"/>
      </a:lt1>
      <a:dk2>
        <a:srgbClr val="000000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879</TotalTime>
  <Words>413</Words>
  <Application>Microsoft Office PowerPoint</Application>
  <PresentationFormat>Экран (16:9)</PresentationFormat>
  <Paragraphs>109</Paragraphs>
  <Slides>17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17</vt:i4>
      </vt:variant>
    </vt:vector>
  </HeadingPairs>
  <TitlesOfParts>
    <vt:vector size="27" baseType="lpstr">
      <vt:lpstr>Arial</vt:lpstr>
      <vt:lpstr>Calibri</vt:lpstr>
      <vt:lpstr>DejaVu Sans</vt:lpstr>
      <vt:lpstr>Roboto</vt:lpstr>
      <vt:lpstr>Roboto Medium</vt:lpstr>
      <vt:lpstr>Symbol</vt:lpstr>
      <vt:lpstr>Times New Roman</vt:lpstr>
      <vt:lpstr>Wingdings</vt:lpstr>
      <vt:lpstr>Simple Light</vt:lpstr>
      <vt:lpstr>Тема Office</vt:lpstr>
      <vt:lpstr>Выпускная квалификационная работа бакалавра на тему: «Мобильное приложения для зарядки электромобилей»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Выпускная квалификационная работа бакалавра на тему: Масштабируемая высокопроизводительная облачная платформа для машинного обучения</dc:title>
  <dc:subject/>
  <dc:creator>Николай Филимонов</dc:creator>
  <dc:description/>
  <cp:lastModifiedBy>Учетная запись Майкрософт</cp:lastModifiedBy>
  <cp:revision>170</cp:revision>
  <dcterms:modified xsi:type="dcterms:W3CDTF">2025-06-18T09:01:20Z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14</vt:r8>
  </property>
  <property fmtid="{D5CDD505-2E9C-101B-9397-08002B2CF9AE}" pid="3" name="PresentationFormat">
    <vt:lpwstr>Экран (16:9)</vt:lpwstr>
  </property>
  <property fmtid="{D5CDD505-2E9C-101B-9397-08002B2CF9AE}" pid="4" name="Slides">
    <vt:r8>14</vt:r8>
  </property>
</Properties>
</file>